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4" r:id="rId7"/>
    <p:sldId id="261" r:id="rId8"/>
    <p:sldId id="275" r:id="rId9"/>
    <p:sldId id="276" r:id="rId10"/>
    <p:sldId id="277" r:id="rId11"/>
    <p:sldId id="278" r:id="rId12"/>
    <p:sldId id="279" r:id="rId13"/>
    <p:sldId id="280" r:id="rId14"/>
    <p:sldId id="281" r:id="rId15"/>
    <p:sldId id="282" r:id="rId16"/>
    <p:sldId id="283" r:id="rId17"/>
    <p:sldId id="284" r:id="rId18"/>
    <p:sldId id="262" r:id="rId19"/>
    <p:sldId id="274" r:id="rId20"/>
  </p:sldIdLst>
  <p:sldSz cx="18288000" cy="10287000"/>
  <p:notesSz cx="6858000" cy="9144000"/>
  <p:embeddedFontLst>
    <p:embeddedFont>
      <p:font typeface="Arial Black" panose="020B0A04020102020204" pitchFamily="34" charset="0"/>
      <p:bold r:id="rId21"/>
    </p:embeddedFont>
    <p:embeddedFont>
      <p:font typeface="Poppins" panose="00000500000000000000" pitchFamily="2" charset="0"/>
      <p:regular r:id="rId22"/>
      <p:bold r:id="rId23"/>
      <p:italic r:id="rId24"/>
      <p:boldItalic r:id="rId25"/>
    </p:embeddedFont>
    <p:embeddedFont>
      <p:font typeface="Poppins Medium" panose="00000600000000000000" pitchFamily="2" charset="0"/>
      <p:regular r:id="rId26"/>
      <p:italic r:id="rId27"/>
    </p:embeddedFont>
    <p:embeddedFont>
      <p:font typeface="Poppins Semi-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6.svg"/><Relationship Id="rId7" Type="http://schemas.openxmlformats.org/officeDocument/2006/relationships/image" Target="../media/image13.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0.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6.sv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a:off x="10132584" y="27801"/>
            <a:ext cx="10259199" cy="10259199"/>
          </a:xfrm>
          <a:custGeom>
            <a:avLst/>
            <a:gdLst/>
            <a:ahLst/>
            <a:cxnLst/>
            <a:rect l="l" t="t" r="r" b="b"/>
            <a:pathLst>
              <a:path w="10259199" h="10259199">
                <a:moveTo>
                  <a:pt x="10259199" y="0"/>
                </a:moveTo>
                <a:lnTo>
                  <a:pt x="0" y="0"/>
                </a:lnTo>
                <a:lnTo>
                  <a:pt x="0" y="10259199"/>
                </a:lnTo>
                <a:lnTo>
                  <a:pt x="10259199" y="10259199"/>
                </a:lnTo>
                <a:lnTo>
                  <a:pt x="10259199"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flipV="1">
            <a:off x="-2024523" y="0"/>
            <a:ext cx="4854522" cy="4854522"/>
          </a:xfrm>
          <a:custGeom>
            <a:avLst/>
            <a:gdLst/>
            <a:ahLst/>
            <a:cxnLst/>
            <a:rect l="l" t="t" r="r" b="b"/>
            <a:pathLst>
              <a:path w="4854522" h="4854522">
                <a:moveTo>
                  <a:pt x="0" y="4854522"/>
                </a:moveTo>
                <a:lnTo>
                  <a:pt x="4854522" y="4854522"/>
                </a:lnTo>
                <a:lnTo>
                  <a:pt x="4854522" y="0"/>
                </a:lnTo>
                <a:lnTo>
                  <a:pt x="0" y="0"/>
                </a:lnTo>
                <a:lnTo>
                  <a:pt x="0" y="48545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 name="Group 4"/>
          <p:cNvGrpSpPr/>
          <p:nvPr/>
        </p:nvGrpSpPr>
        <p:grpSpPr>
          <a:xfrm>
            <a:off x="10167626" y="1690137"/>
            <a:ext cx="8036918" cy="6906726"/>
            <a:chOff x="0" y="0"/>
            <a:chExt cx="812800" cy="698500"/>
          </a:xfrm>
        </p:grpSpPr>
        <p:sp>
          <p:nvSpPr>
            <p:cNvPr id="5" name="Freeform 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100302"/>
            </a:solidFill>
          </p:spPr>
          <p:txBody>
            <a:bodyPr/>
            <a:lstStyle/>
            <a:p>
              <a:endParaRPr lang="en-IN"/>
            </a:p>
          </p:txBody>
        </p:sp>
        <p:sp>
          <p:nvSpPr>
            <p:cNvPr id="6" name="TextBox 6"/>
            <p:cNvSpPr txBox="1"/>
            <p:nvPr/>
          </p:nvSpPr>
          <p:spPr>
            <a:xfrm>
              <a:off x="114300" y="-66675"/>
              <a:ext cx="584200" cy="765175"/>
            </a:xfrm>
            <a:prstGeom prst="rect">
              <a:avLst/>
            </a:prstGeom>
          </p:spPr>
          <p:txBody>
            <a:bodyPr lIns="50800" tIns="50800" rIns="50800" bIns="50800" rtlCol="0" anchor="ctr"/>
            <a:lstStyle/>
            <a:p>
              <a:pPr marL="0" lvl="0" indent="0" algn="ctr">
                <a:lnSpc>
                  <a:spcPts val="2800"/>
                </a:lnSpc>
              </a:pPr>
              <a:endParaRPr/>
            </a:p>
          </p:txBody>
        </p:sp>
      </p:grpSp>
      <p:grpSp>
        <p:nvGrpSpPr>
          <p:cNvPr id="7" name="Group 7"/>
          <p:cNvGrpSpPr/>
          <p:nvPr/>
        </p:nvGrpSpPr>
        <p:grpSpPr>
          <a:xfrm>
            <a:off x="10556001" y="2023897"/>
            <a:ext cx="7260167" cy="6239206"/>
            <a:chOff x="0" y="0"/>
            <a:chExt cx="812800" cy="698500"/>
          </a:xfrm>
        </p:grpSpPr>
        <p:sp>
          <p:nvSpPr>
            <p:cNvPr id="8" name="Freeform 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3"/>
              <a:stretch>
                <a:fillRect l="-36" r="-36"/>
              </a:stretch>
            </a:blipFill>
            <a:ln w="209550" cap="sq">
              <a:solidFill>
                <a:srgbClr val="C02519"/>
              </a:solidFill>
              <a:prstDash val="solid"/>
              <a:miter/>
            </a:ln>
          </p:spPr>
          <p:txBody>
            <a:bodyPr/>
            <a:lstStyle/>
            <a:p>
              <a:endParaRPr lang="en-IN"/>
            </a:p>
          </p:txBody>
        </p:sp>
      </p:grpSp>
      <p:grpSp>
        <p:nvGrpSpPr>
          <p:cNvPr id="9" name="Group 9"/>
          <p:cNvGrpSpPr/>
          <p:nvPr/>
        </p:nvGrpSpPr>
        <p:grpSpPr>
          <a:xfrm>
            <a:off x="9663660" y="5639164"/>
            <a:ext cx="4723492" cy="4059251"/>
            <a:chOff x="0" y="0"/>
            <a:chExt cx="812800" cy="698500"/>
          </a:xfrm>
        </p:grpSpPr>
        <p:sp>
          <p:nvSpPr>
            <p:cNvPr id="10" name="Freeform 1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4"/>
              <a:stretch>
                <a:fillRect l="-36" r="-36"/>
              </a:stretch>
            </a:blipFill>
            <a:ln w="209550" cap="sq">
              <a:solidFill>
                <a:srgbClr val="000000"/>
              </a:solidFill>
              <a:prstDash val="solid"/>
              <a:miter/>
            </a:ln>
          </p:spPr>
          <p:txBody>
            <a:bodyPr/>
            <a:lstStyle/>
            <a:p>
              <a:endParaRPr lang="en-IN"/>
            </a:p>
          </p:txBody>
        </p:sp>
      </p:grpSp>
      <p:sp>
        <p:nvSpPr>
          <p:cNvPr id="11" name="Freeform 11"/>
          <p:cNvSpPr/>
          <p:nvPr/>
        </p:nvSpPr>
        <p:spPr>
          <a:xfrm flipH="1" flipV="1">
            <a:off x="12436502" y="-2046699"/>
            <a:ext cx="5928391" cy="6605567"/>
          </a:xfrm>
          <a:custGeom>
            <a:avLst/>
            <a:gdLst/>
            <a:ahLst/>
            <a:cxnLst/>
            <a:rect l="l" t="t" r="r" b="b"/>
            <a:pathLst>
              <a:path w="5928391" h="6605567">
                <a:moveTo>
                  <a:pt x="5928390" y="6605566"/>
                </a:moveTo>
                <a:lnTo>
                  <a:pt x="0" y="6605566"/>
                </a:lnTo>
                <a:lnTo>
                  <a:pt x="0" y="0"/>
                </a:lnTo>
                <a:lnTo>
                  <a:pt x="5928390" y="0"/>
                </a:lnTo>
                <a:lnTo>
                  <a:pt x="5928390" y="6605566"/>
                </a:lnTo>
                <a:close/>
              </a:path>
            </a:pathLst>
          </a:custGeom>
          <a:blipFill>
            <a:blip>
              <a:extLst>
                <a:ext uri="{96DAC541-7B7A-43D3-8B79-37D633B846F1}">
                  <asvg:svgBlip xmlns:asvg="http://schemas.microsoft.com/office/drawing/2016/SVG/main" r:embed="rId2"/>
                </a:ext>
              </a:extLst>
            </a:blip>
            <a:stretch>
              <a:fillRect t="-55311" r="-73052"/>
            </a:stretch>
          </a:blipFill>
        </p:spPr>
        <p:txBody>
          <a:bodyPr/>
          <a:lstStyle/>
          <a:p>
            <a:endParaRPr lang="en-IN"/>
          </a:p>
        </p:txBody>
      </p:sp>
      <p:sp>
        <p:nvSpPr>
          <p:cNvPr id="12" name="Freeform 12"/>
          <p:cNvSpPr/>
          <p:nvPr/>
        </p:nvSpPr>
        <p:spPr>
          <a:xfrm>
            <a:off x="1557173" y="1066982"/>
            <a:ext cx="622416" cy="734611"/>
          </a:xfrm>
          <a:custGeom>
            <a:avLst/>
            <a:gdLst/>
            <a:ahLst/>
            <a:cxnLst/>
            <a:rect l="l" t="t" r="r" b="b"/>
            <a:pathLst>
              <a:path w="622416" h="734611">
                <a:moveTo>
                  <a:pt x="0" y="0"/>
                </a:moveTo>
                <a:lnTo>
                  <a:pt x="622416" y="0"/>
                </a:lnTo>
                <a:lnTo>
                  <a:pt x="622416" y="734611"/>
                </a:lnTo>
                <a:lnTo>
                  <a:pt x="0" y="73461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3" name="Freeform 13"/>
          <p:cNvSpPr/>
          <p:nvPr/>
        </p:nvSpPr>
        <p:spPr>
          <a:xfrm>
            <a:off x="9663660" y="1028700"/>
            <a:ext cx="1977168" cy="1545786"/>
          </a:xfrm>
          <a:custGeom>
            <a:avLst/>
            <a:gdLst/>
            <a:ahLst/>
            <a:cxnLst/>
            <a:rect l="l" t="t" r="r" b="b"/>
            <a:pathLst>
              <a:path w="1977168" h="1545786">
                <a:moveTo>
                  <a:pt x="0" y="0"/>
                </a:moveTo>
                <a:lnTo>
                  <a:pt x="1977168" y="0"/>
                </a:lnTo>
                <a:lnTo>
                  <a:pt x="1977168" y="1545786"/>
                </a:lnTo>
                <a:lnTo>
                  <a:pt x="0" y="154578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4" name="Freeform 14"/>
          <p:cNvSpPr/>
          <p:nvPr/>
        </p:nvSpPr>
        <p:spPr>
          <a:xfrm>
            <a:off x="556229" y="9698415"/>
            <a:ext cx="2001886" cy="243866"/>
          </a:xfrm>
          <a:custGeom>
            <a:avLst/>
            <a:gdLst/>
            <a:ahLst/>
            <a:cxnLst/>
            <a:rect l="l" t="t" r="r" b="b"/>
            <a:pathLst>
              <a:path w="2001886" h="243866">
                <a:moveTo>
                  <a:pt x="0" y="0"/>
                </a:moveTo>
                <a:lnTo>
                  <a:pt x="2001887" y="0"/>
                </a:lnTo>
                <a:lnTo>
                  <a:pt x="2001887" y="243866"/>
                </a:lnTo>
                <a:lnTo>
                  <a:pt x="0" y="2438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5" name="TextBox 15"/>
          <p:cNvSpPr txBox="1"/>
          <p:nvPr/>
        </p:nvSpPr>
        <p:spPr>
          <a:xfrm>
            <a:off x="1557173" y="2942812"/>
            <a:ext cx="7754548" cy="3065667"/>
          </a:xfrm>
          <a:prstGeom prst="rect">
            <a:avLst/>
          </a:prstGeom>
        </p:spPr>
        <p:txBody>
          <a:bodyPr lIns="0" tIns="0" rIns="0" bIns="0" rtlCol="0" anchor="t">
            <a:spAutoFit/>
          </a:bodyPr>
          <a:lstStyle/>
          <a:p>
            <a:pPr marL="0" lvl="0" indent="0" algn="l">
              <a:lnSpc>
                <a:spcPts val="5817"/>
              </a:lnSpc>
            </a:pPr>
            <a:r>
              <a:rPr lang="en-US" sz="6463">
                <a:solidFill>
                  <a:srgbClr val="FFFFFF"/>
                </a:solidFill>
                <a:latin typeface="Poppins"/>
                <a:ea typeface="Poppins"/>
                <a:cs typeface="Poppins"/>
                <a:sym typeface="Poppins"/>
              </a:rPr>
              <a:t>Zomato Restaurant Analytics Dashboard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10800000" flipH="1" flipV="1">
            <a:off x="-5577747" y="1084851"/>
            <a:ext cx="9089382" cy="9089382"/>
          </a:xfrm>
          <a:custGeom>
            <a:avLst/>
            <a:gdLst/>
            <a:ahLst/>
            <a:cxnLst/>
            <a:rect l="l" t="t" r="r" b="b"/>
            <a:pathLst>
              <a:path w="9089382" h="9089382">
                <a:moveTo>
                  <a:pt x="9089382" y="9089383"/>
                </a:moveTo>
                <a:lnTo>
                  <a:pt x="0" y="9089383"/>
                </a:lnTo>
                <a:lnTo>
                  <a:pt x="0" y="0"/>
                </a:lnTo>
                <a:lnTo>
                  <a:pt x="9089382" y="0"/>
                </a:lnTo>
                <a:lnTo>
                  <a:pt x="9089382"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4" name="Freeform 4"/>
          <p:cNvSpPr/>
          <p:nvPr/>
        </p:nvSpPr>
        <p:spPr>
          <a:xfrm>
            <a:off x="1662904" y="799624"/>
            <a:ext cx="506110" cy="597340"/>
          </a:xfrm>
          <a:custGeom>
            <a:avLst/>
            <a:gdLst/>
            <a:ahLst/>
            <a:cxnLst/>
            <a:rect l="l" t="t" r="r" b="b"/>
            <a:pathLst>
              <a:path w="506110" h="597340">
                <a:moveTo>
                  <a:pt x="0" y="0"/>
                </a:moveTo>
                <a:lnTo>
                  <a:pt x="506110" y="0"/>
                </a:lnTo>
                <a:lnTo>
                  <a:pt x="506110" y="597341"/>
                </a:lnTo>
                <a:lnTo>
                  <a:pt x="0" y="59734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AutoShape 5"/>
          <p:cNvSpPr/>
          <p:nvPr/>
        </p:nvSpPr>
        <p:spPr>
          <a:xfrm>
            <a:off x="1662904" y="3200299"/>
            <a:ext cx="57368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p:cNvSpPr/>
          <p:nvPr/>
        </p:nvSpPr>
        <p:spPr>
          <a:xfrm rot="-10800000">
            <a:off x="9407617" y="-2634475"/>
            <a:ext cx="9089382" cy="9089382"/>
          </a:xfrm>
          <a:custGeom>
            <a:avLst/>
            <a:gdLst/>
            <a:ahLst/>
            <a:cxnLst/>
            <a:rect l="l" t="t" r="r" b="b"/>
            <a:pathLst>
              <a:path w="9089382" h="9089382">
                <a:moveTo>
                  <a:pt x="0" y="0"/>
                </a:moveTo>
                <a:lnTo>
                  <a:pt x="9089383" y="0"/>
                </a:lnTo>
                <a:lnTo>
                  <a:pt x="9089383"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9" name="TextBox 9"/>
          <p:cNvSpPr txBox="1"/>
          <p:nvPr/>
        </p:nvSpPr>
        <p:spPr>
          <a:xfrm>
            <a:off x="2781248" y="4215373"/>
            <a:ext cx="6835061" cy="1343540"/>
          </a:xfrm>
          <a:prstGeom prst="rect">
            <a:avLst/>
          </a:prstGeom>
        </p:spPr>
        <p:txBody>
          <a:bodyPr lIns="50800" tIns="50800" rIns="50800" bIns="50800" rtlCol="0" anchor="ctr"/>
          <a:lstStyle/>
          <a:p>
            <a:pPr marL="0" lvl="0" indent="0" algn="ctr">
              <a:lnSpc>
                <a:spcPts val="2800"/>
              </a:lnSpc>
            </a:pPr>
            <a:endParaRPr/>
          </a:p>
        </p:txBody>
      </p:sp>
      <p:sp>
        <p:nvSpPr>
          <p:cNvPr id="21" name="TextBox 21"/>
          <p:cNvSpPr txBox="1"/>
          <p:nvPr/>
        </p:nvSpPr>
        <p:spPr>
          <a:xfrm>
            <a:off x="1662904" y="1887318"/>
            <a:ext cx="9871179" cy="677097"/>
          </a:xfrm>
          <a:prstGeom prst="rect">
            <a:avLst/>
          </a:prstGeom>
        </p:spPr>
        <p:txBody>
          <a:bodyPr lIns="0" tIns="0" rIns="0" bIns="0" rtlCol="0" anchor="t">
            <a:spAutoFit/>
          </a:bodyPr>
          <a:lstStyle/>
          <a:p>
            <a:pPr marL="0" lvl="0" indent="0" algn="just">
              <a:lnSpc>
                <a:spcPts val="4519"/>
              </a:lnSpc>
            </a:pPr>
            <a:r>
              <a:rPr lang="en-US" sz="5021" b="1">
                <a:solidFill>
                  <a:srgbClr val="FFFFFF"/>
                </a:solidFill>
                <a:latin typeface="Poppins Semi-Bold"/>
                <a:ea typeface="Poppins Semi-Bold"/>
                <a:cs typeface="Poppins Semi-Bold"/>
                <a:sym typeface="Poppins Semi-Bold"/>
              </a:rPr>
              <a:t>Team Members</a:t>
            </a:r>
          </a:p>
        </p:txBody>
      </p:sp>
      <p:sp>
        <p:nvSpPr>
          <p:cNvPr id="22" name="TextBox 22"/>
          <p:cNvSpPr txBox="1"/>
          <p:nvPr/>
        </p:nvSpPr>
        <p:spPr>
          <a:xfrm>
            <a:off x="2822371" y="3934860"/>
            <a:ext cx="3805659" cy="302519"/>
          </a:xfrm>
          <a:prstGeom prst="rect">
            <a:avLst/>
          </a:prstGeom>
        </p:spPr>
        <p:txBody>
          <a:bodyPr lIns="0" tIns="0" rIns="0" bIns="0" rtlCol="0" anchor="t">
            <a:spAutoFit/>
          </a:bodyPr>
          <a:lstStyle/>
          <a:p>
            <a:pPr marL="0" lvl="0" indent="0" algn="just">
              <a:lnSpc>
                <a:spcPts val="2062"/>
              </a:lnSpc>
            </a:pPr>
            <a:r>
              <a:rPr lang="en-US" sz="2800" dirty="0">
                <a:solidFill>
                  <a:srgbClr val="FFFFFF"/>
                </a:solidFill>
                <a:latin typeface="Poppins"/>
                <a:ea typeface="Poppins"/>
                <a:cs typeface="Poppins"/>
                <a:sym typeface="Poppins"/>
              </a:rPr>
              <a:t>Rushikesh Mote</a:t>
            </a:r>
          </a:p>
        </p:txBody>
      </p:sp>
      <p:sp>
        <p:nvSpPr>
          <p:cNvPr id="29" name="Freeform 29"/>
          <p:cNvSpPr/>
          <p:nvPr/>
        </p:nvSpPr>
        <p:spPr>
          <a:xfrm>
            <a:off x="8517102" y="9167040"/>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0" name="Freeform 30"/>
          <p:cNvSpPr/>
          <p:nvPr/>
        </p:nvSpPr>
        <p:spPr>
          <a:xfrm>
            <a:off x="-626898" y="464704"/>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1" name="Freeform 31"/>
          <p:cNvSpPr/>
          <p:nvPr/>
        </p:nvSpPr>
        <p:spPr>
          <a:xfrm>
            <a:off x="12284295" y="402630"/>
            <a:ext cx="1081704" cy="845696"/>
          </a:xfrm>
          <a:custGeom>
            <a:avLst/>
            <a:gdLst/>
            <a:ahLst/>
            <a:cxnLst/>
            <a:rect l="l" t="t" r="r" b="b"/>
            <a:pathLst>
              <a:path w="1081704" h="845696">
                <a:moveTo>
                  <a:pt x="0" y="0"/>
                </a:moveTo>
                <a:lnTo>
                  <a:pt x="1081704" y="0"/>
                </a:lnTo>
                <a:lnTo>
                  <a:pt x="1081704" y="845696"/>
                </a:lnTo>
                <a:lnTo>
                  <a:pt x="0" y="8456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dirty="0"/>
          </a:p>
        </p:txBody>
      </p:sp>
      <p:pic>
        <p:nvPicPr>
          <p:cNvPr id="33" name="Picture 32">
            <a:extLst>
              <a:ext uri="{FF2B5EF4-FFF2-40B4-BE49-F238E27FC236}">
                <a16:creationId xmlns:a16="http://schemas.microsoft.com/office/drawing/2014/main" id="{D516EA6E-4AA9-C7EA-871F-183364363CCE}"/>
              </a:ext>
            </a:extLst>
          </p:cNvPr>
          <p:cNvPicPr>
            <a:picLocks noChangeAspect="1"/>
          </p:cNvPicPr>
          <p:nvPr/>
        </p:nvPicPr>
        <p:blipFill>
          <a:blip r:embed="rId6"/>
          <a:stretch>
            <a:fillRect/>
          </a:stretch>
        </p:blipFill>
        <p:spPr>
          <a:xfrm>
            <a:off x="1915959" y="4533847"/>
            <a:ext cx="573074" cy="609653"/>
          </a:xfrm>
          <a:prstGeom prst="rect">
            <a:avLst/>
          </a:prstGeom>
        </p:spPr>
      </p:pic>
      <p:sp>
        <p:nvSpPr>
          <p:cNvPr id="34" name="Freeform 27">
            <a:extLst>
              <a:ext uri="{FF2B5EF4-FFF2-40B4-BE49-F238E27FC236}">
                <a16:creationId xmlns:a16="http://schemas.microsoft.com/office/drawing/2014/main" id="{DFB568E8-5380-71BE-1851-06CB4AB34BD1}"/>
              </a:ext>
            </a:extLst>
          </p:cNvPr>
          <p:cNvSpPr/>
          <p:nvPr/>
        </p:nvSpPr>
        <p:spPr>
          <a:xfrm>
            <a:off x="1941734" y="5528647"/>
            <a:ext cx="575874" cy="613107"/>
          </a:xfrm>
          <a:custGeom>
            <a:avLst/>
            <a:gdLst/>
            <a:ahLst/>
            <a:cxnLst/>
            <a:rect l="l" t="t" r="r" b="b"/>
            <a:pathLst>
              <a:path w="575874" h="613107">
                <a:moveTo>
                  <a:pt x="0" y="0"/>
                </a:moveTo>
                <a:lnTo>
                  <a:pt x="575875" y="0"/>
                </a:lnTo>
                <a:lnTo>
                  <a:pt x="575875" y="613108"/>
                </a:lnTo>
                <a:lnTo>
                  <a:pt x="0" y="613108"/>
                </a:lnTo>
                <a:lnTo>
                  <a:pt x="0" y="0"/>
                </a:lnTo>
                <a:close/>
              </a:path>
            </a:pathLst>
          </a:custGeom>
          <a:blipFill>
            <a:blip r:embed="rId7"/>
            <a:stretch>
              <a:fillRect/>
            </a:stretch>
          </a:blipFill>
        </p:spPr>
        <p:txBody>
          <a:bodyPr/>
          <a:lstStyle/>
          <a:p>
            <a:endParaRPr lang="en-IN"/>
          </a:p>
        </p:txBody>
      </p:sp>
      <p:sp>
        <p:nvSpPr>
          <p:cNvPr id="35" name="Freeform 27">
            <a:extLst>
              <a:ext uri="{FF2B5EF4-FFF2-40B4-BE49-F238E27FC236}">
                <a16:creationId xmlns:a16="http://schemas.microsoft.com/office/drawing/2014/main" id="{31B35CD4-1151-4FE8-BAE4-9DD77AA20069}"/>
              </a:ext>
            </a:extLst>
          </p:cNvPr>
          <p:cNvSpPr/>
          <p:nvPr/>
        </p:nvSpPr>
        <p:spPr>
          <a:xfrm>
            <a:off x="1941734" y="3635603"/>
            <a:ext cx="575874" cy="613107"/>
          </a:xfrm>
          <a:custGeom>
            <a:avLst/>
            <a:gdLst/>
            <a:ahLst/>
            <a:cxnLst/>
            <a:rect l="l" t="t" r="r" b="b"/>
            <a:pathLst>
              <a:path w="575874" h="613107">
                <a:moveTo>
                  <a:pt x="0" y="0"/>
                </a:moveTo>
                <a:lnTo>
                  <a:pt x="575875" y="0"/>
                </a:lnTo>
                <a:lnTo>
                  <a:pt x="575875" y="613108"/>
                </a:lnTo>
                <a:lnTo>
                  <a:pt x="0" y="613108"/>
                </a:lnTo>
                <a:lnTo>
                  <a:pt x="0" y="0"/>
                </a:lnTo>
                <a:close/>
              </a:path>
            </a:pathLst>
          </a:custGeom>
          <a:blipFill>
            <a:blip r:embed="rId7"/>
            <a:stretch>
              <a:fillRect/>
            </a:stretch>
          </a:blipFill>
        </p:spPr>
        <p:txBody>
          <a:bodyPr/>
          <a:lstStyle/>
          <a:p>
            <a:endParaRPr lang="en-IN"/>
          </a:p>
        </p:txBody>
      </p:sp>
      <p:sp>
        <p:nvSpPr>
          <p:cNvPr id="36" name="Freeform 27">
            <a:extLst>
              <a:ext uri="{FF2B5EF4-FFF2-40B4-BE49-F238E27FC236}">
                <a16:creationId xmlns:a16="http://schemas.microsoft.com/office/drawing/2014/main" id="{1006D0C3-E62E-53FF-CC42-27AE45C3381A}"/>
              </a:ext>
            </a:extLst>
          </p:cNvPr>
          <p:cNvSpPr/>
          <p:nvPr/>
        </p:nvSpPr>
        <p:spPr>
          <a:xfrm>
            <a:off x="1915959" y="6525030"/>
            <a:ext cx="575874" cy="613107"/>
          </a:xfrm>
          <a:custGeom>
            <a:avLst/>
            <a:gdLst/>
            <a:ahLst/>
            <a:cxnLst/>
            <a:rect l="l" t="t" r="r" b="b"/>
            <a:pathLst>
              <a:path w="575874" h="613107">
                <a:moveTo>
                  <a:pt x="0" y="0"/>
                </a:moveTo>
                <a:lnTo>
                  <a:pt x="575875" y="0"/>
                </a:lnTo>
                <a:lnTo>
                  <a:pt x="575875" y="613108"/>
                </a:lnTo>
                <a:lnTo>
                  <a:pt x="0" y="613108"/>
                </a:lnTo>
                <a:lnTo>
                  <a:pt x="0" y="0"/>
                </a:lnTo>
                <a:close/>
              </a:path>
            </a:pathLst>
          </a:custGeom>
          <a:blipFill>
            <a:blip r:embed="rId7"/>
            <a:stretch>
              <a:fillRect/>
            </a:stretch>
          </a:blipFill>
        </p:spPr>
        <p:txBody>
          <a:bodyPr/>
          <a:lstStyle/>
          <a:p>
            <a:endParaRPr lang="en-IN"/>
          </a:p>
        </p:txBody>
      </p:sp>
      <p:sp>
        <p:nvSpPr>
          <p:cNvPr id="37" name="Freeform 27">
            <a:extLst>
              <a:ext uri="{FF2B5EF4-FFF2-40B4-BE49-F238E27FC236}">
                <a16:creationId xmlns:a16="http://schemas.microsoft.com/office/drawing/2014/main" id="{8499B776-9BE0-E35F-4CA7-63E47E063AC3}"/>
              </a:ext>
            </a:extLst>
          </p:cNvPr>
          <p:cNvSpPr/>
          <p:nvPr/>
        </p:nvSpPr>
        <p:spPr>
          <a:xfrm>
            <a:off x="1941734" y="7521413"/>
            <a:ext cx="575874" cy="613107"/>
          </a:xfrm>
          <a:custGeom>
            <a:avLst/>
            <a:gdLst/>
            <a:ahLst/>
            <a:cxnLst/>
            <a:rect l="l" t="t" r="r" b="b"/>
            <a:pathLst>
              <a:path w="575874" h="613107">
                <a:moveTo>
                  <a:pt x="0" y="0"/>
                </a:moveTo>
                <a:lnTo>
                  <a:pt x="575875" y="0"/>
                </a:lnTo>
                <a:lnTo>
                  <a:pt x="575875" y="613108"/>
                </a:lnTo>
                <a:lnTo>
                  <a:pt x="0" y="613108"/>
                </a:lnTo>
                <a:lnTo>
                  <a:pt x="0" y="0"/>
                </a:lnTo>
                <a:close/>
              </a:path>
            </a:pathLst>
          </a:custGeom>
          <a:blipFill>
            <a:blip r:embed="rId7"/>
            <a:stretch>
              <a:fillRect/>
            </a:stretch>
          </a:blipFill>
        </p:spPr>
        <p:txBody>
          <a:bodyPr/>
          <a:lstStyle/>
          <a:p>
            <a:endParaRPr lang="en-IN"/>
          </a:p>
        </p:txBody>
      </p:sp>
      <p:sp>
        <p:nvSpPr>
          <p:cNvPr id="38" name="Freeform 27">
            <a:extLst>
              <a:ext uri="{FF2B5EF4-FFF2-40B4-BE49-F238E27FC236}">
                <a16:creationId xmlns:a16="http://schemas.microsoft.com/office/drawing/2014/main" id="{DEC90409-2BB1-72CC-E84B-A735BCC5514F}"/>
              </a:ext>
            </a:extLst>
          </p:cNvPr>
          <p:cNvSpPr/>
          <p:nvPr/>
        </p:nvSpPr>
        <p:spPr>
          <a:xfrm>
            <a:off x="1941734" y="8517796"/>
            <a:ext cx="575874" cy="613107"/>
          </a:xfrm>
          <a:custGeom>
            <a:avLst/>
            <a:gdLst/>
            <a:ahLst/>
            <a:cxnLst/>
            <a:rect l="l" t="t" r="r" b="b"/>
            <a:pathLst>
              <a:path w="575874" h="613107">
                <a:moveTo>
                  <a:pt x="0" y="0"/>
                </a:moveTo>
                <a:lnTo>
                  <a:pt x="575875" y="0"/>
                </a:lnTo>
                <a:lnTo>
                  <a:pt x="575875" y="613108"/>
                </a:lnTo>
                <a:lnTo>
                  <a:pt x="0" y="613108"/>
                </a:lnTo>
                <a:lnTo>
                  <a:pt x="0" y="0"/>
                </a:lnTo>
                <a:close/>
              </a:path>
            </a:pathLst>
          </a:custGeom>
          <a:blipFill>
            <a:blip r:embed="rId7"/>
            <a:stretch>
              <a:fillRect/>
            </a:stretch>
          </a:blipFill>
        </p:spPr>
        <p:txBody>
          <a:bodyPr/>
          <a:lstStyle/>
          <a:p>
            <a:endParaRPr lang="en-IN"/>
          </a:p>
        </p:txBody>
      </p:sp>
      <p:sp>
        <p:nvSpPr>
          <p:cNvPr id="42" name="TextBox 41">
            <a:extLst>
              <a:ext uri="{FF2B5EF4-FFF2-40B4-BE49-F238E27FC236}">
                <a16:creationId xmlns:a16="http://schemas.microsoft.com/office/drawing/2014/main" id="{0860143F-CF93-FF08-2B22-6D8F13C1DFCA}"/>
              </a:ext>
            </a:extLst>
          </p:cNvPr>
          <p:cNvSpPr txBox="1"/>
          <p:nvPr/>
        </p:nvSpPr>
        <p:spPr>
          <a:xfrm>
            <a:off x="2729126" y="4768578"/>
            <a:ext cx="13774366" cy="393506"/>
          </a:xfrm>
          <a:prstGeom prst="rect">
            <a:avLst/>
          </a:prstGeom>
          <a:noFill/>
        </p:spPr>
        <p:txBody>
          <a:bodyPr wrap="square">
            <a:spAutoFit/>
          </a:bodyPr>
          <a:lstStyle/>
          <a:p>
            <a:pPr lvl="0" algn="just">
              <a:lnSpc>
                <a:spcPts val="2062"/>
              </a:lnSpc>
            </a:pPr>
            <a:r>
              <a:rPr lang="en-IN" sz="2800" dirty="0">
                <a:solidFill>
                  <a:schemeClr val="bg1"/>
                </a:solidFill>
              </a:rPr>
              <a:t>Paresh </a:t>
            </a:r>
            <a:r>
              <a:rPr lang="en-IN" sz="2800" dirty="0" err="1">
                <a:solidFill>
                  <a:schemeClr val="bg1"/>
                </a:solidFill>
              </a:rPr>
              <a:t>Mhalsekar</a:t>
            </a:r>
            <a:endParaRPr lang="en-US" sz="2800" dirty="0">
              <a:solidFill>
                <a:schemeClr val="bg1"/>
              </a:solidFill>
              <a:latin typeface="Poppins"/>
              <a:ea typeface="Poppins"/>
              <a:cs typeface="Poppins"/>
              <a:sym typeface="Poppins"/>
            </a:endParaRPr>
          </a:p>
        </p:txBody>
      </p:sp>
      <p:sp>
        <p:nvSpPr>
          <p:cNvPr id="44" name="TextBox 43">
            <a:extLst>
              <a:ext uri="{FF2B5EF4-FFF2-40B4-BE49-F238E27FC236}">
                <a16:creationId xmlns:a16="http://schemas.microsoft.com/office/drawing/2014/main" id="{8D3FCDE3-4AE4-2241-9564-A5AB3C466EB2}"/>
              </a:ext>
            </a:extLst>
          </p:cNvPr>
          <p:cNvSpPr txBox="1"/>
          <p:nvPr/>
        </p:nvSpPr>
        <p:spPr>
          <a:xfrm>
            <a:off x="2729126" y="5689815"/>
            <a:ext cx="13774366" cy="393506"/>
          </a:xfrm>
          <a:prstGeom prst="rect">
            <a:avLst/>
          </a:prstGeom>
          <a:noFill/>
        </p:spPr>
        <p:txBody>
          <a:bodyPr wrap="square">
            <a:spAutoFit/>
          </a:bodyPr>
          <a:lstStyle/>
          <a:p>
            <a:pPr lvl="0" algn="just">
              <a:lnSpc>
                <a:spcPts val="2062"/>
              </a:lnSpc>
            </a:pPr>
            <a:r>
              <a:rPr lang="en-IN" sz="2800" dirty="0">
                <a:solidFill>
                  <a:schemeClr val="bg1"/>
                </a:solidFill>
              </a:rPr>
              <a:t>Snehal Lahankar</a:t>
            </a:r>
            <a:endParaRPr lang="en-US" sz="2800" dirty="0">
              <a:solidFill>
                <a:schemeClr val="bg1"/>
              </a:solidFill>
              <a:latin typeface="Poppins"/>
              <a:ea typeface="Poppins"/>
              <a:cs typeface="Poppins"/>
              <a:sym typeface="Poppins"/>
            </a:endParaRPr>
          </a:p>
        </p:txBody>
      </p:sp>
      <p:sp>
        <p:nvSpPr>
          <p:cNvPr id="46" name="TextBox 45">
            <a:extLst>
              <a:ext uri="{FF2B5EF4-FFF2-40B4-BE49-F238E27FC236}">
                <a16:creationId xmlns:a16="http://schemas.microsoft.com/office/drawing/2014/main" id="{A39F9B35-4BF5-127B-10E2-C38C994D4CDD}"/>
              </a:ext>
            </a:extLst>
          </p:cNvPr>
          <p:cNvSpPr txBox="1"/>
          <p:nvPr/>
        </p:nvSpPr>
        <p:spPr>
          <a:xfrm>
            <a:off x="2718861" y="6695940"/>
            <a:ext cx="13774366" cy="393506"/>
          </a:xfrm>
          <a:prstGeom prst="rect">
            <a:avLst/>
          </a:prstGeom>
          <a:noFill/>
        </p:spPr>
        <p:txBody>
          <a:bodyPr wrap="square">
            <a:spAutoFit/>
          </a:bodyPr>
          <a:lstStyle/>
          <a:p>
            <a:pPr lvl="0" algn="just">
              <a:lnSpc>
                <a:spcPts val="2062"/>
              </a:lnSpc>
            </a:pPr>
            <a:r>
              <a:rPr lang="en-IN" sz="2800" dirty="0">
                <a:solidFill>
                  <a:schemeClr val="bg1"/>
                </a:solidFill>
              </a:rPr>
              <a:t>R. Jamuna Rani</a:t>
            </a:r>
            <a:endParaRPr lang="en-US" sz="2800" dirty="0">
              <a:solidFill>
                <a:schemeClr val="bg1"/>
              </a:solidFill>
              <a:latin typeface="Poppins"/>
              <a:ea typeface="Poppins"/>
              <a:cs typeface="Poppins"/>
              <a:sym typeface="Poppins"/>
            </a:endParaRPr>
          </a:p>
        </p:txBody>
      </p:sp>
      <p:sp>
        <p:nvSpPr>
          <p:cNvPr id="48" name="TextBox 47">
            <a:extLst>
              <a:ext uri="{FF2B5EF4-FFF2-40B4-BE49-F238E27FC236}">
                <a16:creationId xmlns:a16="http://schemas.microsoft.com/office/drawing/2014/main" id="{449D30C0-D9AE-6281-A2FF-74C9DA525E4A}"/>
              </a:ext>
            </a:extLst>
          </p:cNvPr>
          <p:cNvSpPr txBox="1"/>
          <p:nvPr/>
        </p:nvSpPr>
        <p:spPr>
          <a:xfrm>
            <a:off x="2718861" y="7684263"/>
            <a:ext cx="13774366" cy="393506"/>
          </a:xfrm>
          <a:prstGeom prst="rect">
            <a:avLst/>
          </a:prstGeom>
          <a:noFill/>
        </p:spPr>
        <p:txBody>
          <a:bodyPr wrap="square">
            <a:spAutoFit/>
          </a:bodyPr>
          <a:lstStyle/>
          <a:p>
            <a:pPr lvl="0" algn="just">
              <a:lnSpc>
                <a:spcPts val="2062"/>
              </a:lnSpc>
            </a:pPr>
            <a:r>
              <a:rPr lang="en-IN" sz="2800" dirty="0">
                <a:solidFill>
                  <a:schemeClr val="bg1"/>
                </a:solidFill>
              </a:rPr>
              <a:t>Ved Rathore</a:t>
            </a:r>
            <a:endParaRPr lang="en-US" sz="2800" dirty="0">
              <a:solidFill>
                <a:schemeClr val="bg1"/>
              </a:solidFill>
              <a:latin typeface="Poppins"/>
              <a:ea typeface="Poppins"/>
              <a:cs typeface="Poppins"/>
              <a:sym typeface="Poppins"/>
            </a:endParaRPr>
          </a:p>
        </p:txBody>
      </p:sp>
      <p:sp>
        <p:nvSpPr>
          <p:cNvPr id="50" name="TextBox 49">
            <a:extLst>
              <a:ext uri="{FF2B5EF4-FFF2-40B4-BE49-F238E27FC236}">
                <a16:creationId xmlns:a16="http://schemas.microsoft.com/office/drawing/2014/main" id="{B6E2D049-F550-CD2C-51D2-D9A6A18DE92F}"/>
              </a:ext>
            </a:extLst>
          </p:cNvPr>
          <p:cNvSpPr txBox="1"/>
          <p:nvPr/>
        </p:nvSpPr>
        <p:spPr>
          <a:xfrm>
            <a:off x="2822371" y="8626923"/>
            <a:ext cx="13774366" cy="393506"/>
          </a:xfrm>
          <a:prstGeom prst="rect">
            <a:avLst/>
          </a:prstGeom>
          <a:noFill/>
        </p:spPr>
        <p:txBody>
          <a:bodyPr wrap="square">
            <a:spAutoFit/>
          </a:bodyPr>
          <a:lstStyle/>
          <a:p>
            <a:pPr lvl="0" algn="just">
              <a:lnSpc>
                <a:spcPts val="2062"/>
              </a:lnSpc>
            </a:pPr>
            <a:r>
              <a:rPr lang="en-IN" sz="2800" dirty="0">
                <a:solidFill>
                  <a:schemeClr val="bg1"/>
                </a:solidFill>
              </a:rPr>
              <a:t>Shaurya Gupta</a:t>
            </a:r>
            <a:endParaRPr lang="en-US" sz="2800" dirty="0">
              <a:solidFill>
                <a:schemeClr val="bg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6102878" y="799624"/>
            <a:ext cx="506110" cy="597340"/>
          </a:xfrm>
          <a:custGeom>
            <a:avLst/>
            <a:gdLst/>
            <a:ahLst/>
            <a:cxnLst/>
            <a:rect l="l" t="t" r="r" b="b"/>
            <a:pathLst>
              <a:path w="506110" h="597340">
                <a:moveTo>
                  <a:pt x="0" y="0"/>
                </a:moveTo>
                <a:lnTo>
                  <a:pt x="506110" y="0"/>
                </a:lnTo>
                <a:lnTo>
                  <a:pt x="506110" y="597341"/>
                </a:lnTo>
                <a:lnTo>
                  <a:pt x="0" y="5973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flipH="1">
            <a:off x="-939286" y="-1661523"/>
            <a:ext cx="5065129" cy="3960010"/>
          </a:xfrm>
          <a:custGeom>
            <a:avLst/>
            <a:gdLst/>
            <a:ahLst/>
            <a:cxnLst/>
            <a:rect l="l" t="t" r="r" b="b"/>
            <a:pathLst>
              <a:path w="5065129" h="3960010">
                <a:moveTo>
                  <a:pt x="5065129" y="0"/>
                </a:moveTo>
                <a:lnTo>
                  <a:pt x="0" y="0"/>
                </a:lnTo>
                <a:lnTo>
                  <a:pt x="0" y="3960010"/>
                </a:lnTo>
                <a:lnTo>
                  <a:pt x="5065129" y="3960010"/>
                </a:lnTo>
                <a:lnTo>
                  <a:pt x="506512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flipH="1">
            <a:off x="17002634" y="9057634"/>
            <a:ext cx="2097615" cy="1639954"/>
          </a:xfrm>
          <a:custGeom>
            <a:avLst/>
            <a:gdLst/>
            <a:ahLst/>
            <a:cxnLst/>
            <a:rect l="l" t="t" r="r" b="b"/>
            <a:pathLst>
              <a:path w="2097615" h="1639954">
                <a:moveTo>
                  <a:pt x="2097615" y="0"/>
                </a:moveTo>
                <a:lnTo>
                  <a:pt x="0" y="0"/>
                </a:lnTo>
                <a:lnTo>
                  <a:pt x="0" y="1639953"/>
                </a:lnTo>
                <a:lnTo>
                  <a:pt x="2097615" y="1639953"/>
                </a:lnTo>
                <a:lnTo>
                  <a:pt x="209761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10800000" flipH="1" flipV="1">
            <a:off x="-939286" y="1801593"/>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6" name="Group 6"/>
          <p:cNvGrpSpPr/>
          <p:nvPr/>
        </p:nvGrpSpPr>
        <p:grpSpPr>
          <a:xfrm>
            <a:off x="1101596" y="3044807"/>
            <a:ext cx="7230246" cy="6213493"/>
            <a:chOff x="0" y="0"/>
            <a:chExt cx="812800" cy="698500"/>
          </a:xfrm>
        </p:grpSpPr>
        <p:sp>
          <p:nvSpPr>
            <p:cNvPr id="7" name="Freeform 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5"/>
              <a:stretch>
                <a:fillRect l="-36" r="-36"/>
              </a:stretch>
            </a:blipFill>
            <a:ln w="180975" cap="sq">
              <a:solidFill>
                <a:srgbClr val="000000"/>
              </a:solidFill>
              <a:prstDash val="solid"/>
              <a:miter/>
            </a:ln>
          </p:spPr>
          <p:txBody>
            <a:bodyPr/>
            <a:lstStyle/>
            <a:p>
              <a:endParaRPr lang="en-IN"/>
            </a:p>
          </p:txBody>
        </p:sp>
      </p:grpSp>
      <p:grpSp>
        <p:nvGrpSpPr>
          <p:cNvPr id="8" name="Group 8"/>
          <p:cNvGrpSpPr/>
          <p:nvPr/>
        </p:nvGrpSpPr>
        <p:grpSpPr>
          <a:xfrm>
            <a:off x="381708" y="1028700"/>
            <a:ext cx="5009568" cy="4305098"/>
            <a:chOff x="0" y="0"/>
            <a:chExt cx="812800" cy="698500"/>
          </a:xfrm>
        </p:grpSpPr>
        <p:sp>
          <p:nvSpPr>
            <p:cNvPr id="9" name="Freeform 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36" r="-36"/>
              </a:stretch>
            </a:blipFill>
            <a:ln w="180975" cap="sq">
              <a:solidFill>
                <a:srgbClr val="000000"/>
              </a:solidFill>
              <a:prstDash val="solid"/>
              <a:miter/>
            </a:ln>
          </p:spPr>
          <p:txBody>
            <a:bodyPr/>
            <a:lstStyle/>
            <a:p>
              <a:endParaRPr lang="en-IN"/>
            </a:p>
          </p:txBody>
        </p:sp>
      </p:grpSp>
      <p:sp>
        <p:nvSpPr>
          <p:cNvPr id="10" name="Freeform 10"/>
          <p:cNvSpPr/>
          <p:nvPr/>
        </p:nvSpPr>
        <p:spPr>
          <a:xfrm>
            <a:off x="6181667" y="930991"/>
            <a:ext cx="1841612" cy="224342"/>
          </a:xfrm>
          <a:custGeom>
            <a:avLst/>
            <a:gdLst/>
            <a:ahLst/>
            <a:cxnLst/>
            <a:rect l="l" t="t" r="r" b="b"/>
            <a:pathLst>
              <a:path w="1841612" h="224342">
                <a:moveTo>
                  <a:pt x="0" y="0"/>
                </a:moveTo>
                <a:lnTo>
                  <a:pt x="1841612" y="0"/>
                </a:lnTo>
                <a:lnTo>
                  <a:pt x="1841612" y="224342"/>
                </a:lnTo>
                <a:lnTo>
                  <a:pt x="0" y="22434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1" name="Freeform 11"/>
          <p:cNvSpPr/>
          <p:nvPr/>
        </p:nvSpPr>
        <p:spPr>
          <a:xfrm>
            <a:off x="14227205" y="9695090"/>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2" name="Freeform 12"/>
          <p:cNvSpPr/>
          <p:nvPr/>
        </p:nvSpPr>
        <p:spPr>
          <a:xfrm>
            <a:off x="4125843" y="2159263"/>
            <a:ext cx="2265347" cy="1771090"/>
          </a:xfrm>
          <a:custGeom>
            <a:avLst/>
            <a:gdLst/>
            <a:ahLst/>
            <a:cxnLst/>
            <a:rect l="l" t="t" r="r" b="b"/>
            <a:pathLst>
              <a:path w="2265347" h="1771090">
                <a:moveTo>
                  <a:pt x="0" y="0"/>
                </a:moveTo>
                <a:lnTo>
                  <a:pt x="2265347" y="0"/>
                </a:lnTo>
                <a:lnTo>
                  <a:pt x="2265347" y="1771089"/>
                </a:lnTo>
                <a:lnTo>
                  <a:pt x="0" y="17710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AutoShape 13"/>
          <p:cNvSpPr/>
          <p:nvPr/>
        </p:nvSpPr>
        <p:spPr>
          <a:xfrm>
            <a:off x="10872186" y="3200299"/>
            <a:ext cx="57368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17" name="TextBox 17"/>
          <p:cNvSpPr txBox="1"/>
          <p:nvPr/>
        </p:nvSpPr>
        <p:spPr>
          <a:xfrm>
            <a:off x="6737809" y="1944468"/>
            <a:ext cx="9871179" cy="990405"/>
          </a:xfrm>
          <a:prstGeom prst="rect">
            <a:avLst/>
          </a:prstGeom>
        </p:spPr>
        <p:txBody>
          <a:bodyPr lIns="0" tIns="0" rIns="0" bIns="0" rtlCol="0" anchor="t">
            <a:spAutoFit/>
          </a:bodyPr>
          <a:lstStyle/>
          <a:p>
            <a:pPr marL="0" lvl="0" indent="0" algn="r">
              <a:lnSpc>
                <a:spcPts val="6745"/>
              </a:lnSpc>
            </a:pPr>
            <a:r>
              <a:rPr lang="en-US" sz="7494" b="1">
                <a:solidFill>
                  <a:srgbClr val="FFFFFF"/>
                </a:solidFill>
                <a:latin typeface="Poppins Semi-Bold"/>
                <a:ea typeface="Poppins Semi-Bold"/>
                <a:cs typeface="Poppins Semi-Bold"/>
                <a:sym typeface="Poppins Semi-Bold"/>
              </a:rPr>
              <a:t>Project Introduction</a:t>
            </a:r>
          </a:p>
        </p:txBody>
      </p:sp>
      <p:sp>
        <p:nvSpPr>
          <p:cNvPr id="18" name="TextBox 18"/>
          <p:cNvSpPr txBox="1"/>
          <p:nvPr/>
        </p:nvSpPr>
        <p:spPr>
          <a:xfrm>
            <a:off x="12124600" y="864316"/>
            <a:ext cx="3805659" cy="392127"/>
          </a:xfrm>
          <a:prstGeom prst="rect">
            <a:avLst/>
          </a:prstGeom>
        </p:spPr>
        <p:txBody>
          <a:bodyPr lIns="0" tIns="0" rIns="0" bIns="0" rtlCol="0" anchor="t">
            <a:spAutoFit/>
          </a:bodyPr>
          <a:lstStyle/>
          <a:p>
            <a:pPr marL="0" lvl="0" indent="0" algn="r">
              <a:lnSpc>
                <a:spcPts val="3061"/>
              </a:lnSpc>
            </a:pPr>
            <a:r>
              <a:rPr lang="en-US" sz="2186">
                <a:solidFill>
                  <a:srgbClr val="FFFFFF"/>
                </a:solidFill>
                <a:latin typeface="Poppins"/>
                <a:ea typeface="Poppins"/>
                <a:cs typeface="Poppins"/>
                <a:sym typeface="Poppins"/>
              </a:rPr>
              <a:t>Zomato Analytics</a:t>
            </a:r>
          </a:p>
        </p:txBody>
      </p:sp>
      <p:sp>
        <p:nvSpPr>
          <p:cNvPr id="19" name="TextBox 19"/>
          <p:cNvSpPr txBox="1"/>
          <p:nvPr/>
        </p:nvSpPr>
        <p:spPr>
          <a:xfrm>
            <a:off x="8046693" y="4083019"/>
            <a:ext cx="8350764" cy="5601533"/>
          </a:xfrm>
          <a:prstGeom prst="rect">
            <a:avLst/>
          </a:prstGeom>
        </p:spPr>
        <p:txBody>
          <a:bodyPr wrap="square" lIns="0" tIns="0" rIns="0" bIns="0" rtlCol="0" anchor="t">
            <a:spAutoFit/>
          </a:bodyPr>
          <a:lstStyle/>
          <a:p>
            <a:pPr marL="342900" indent="-342900">
              <a:buFont typeface="Wingdings" panose="05000000000000000000" pitchFamily="2" charset="2"/>
              <a:buChar char="Ø"/>
            </a:pPr>
            <a:r>
              <a:rPr lang="en-US" sz="2800" dirty="0">
                <a:solidFill>
                  <a:schemeClr val="bg1"/>
                </a:solidFill>
              </a:rPr>
              <a:t>The food delivery and restaurant industry has experienced rapid growth providing vast amounts of data related to services.</a:t>
            </a:r>
          </a:p>
          <a:p>
            <a:pPr marL="342900" indent="-342900">
              <a:buFont typeface="Wingdings" panose="05000000000000000000" pitchFamily="2" charset="2"/>
              <a:buChar char="Ø"/>
            </a:pPr>
            <a:r>
              <a:rPr lang="en-US" sz="2800" dirty="0">
                <a:solidFill>
                  <a:schemeClr val="bg1"/>
                </a:solidFill>
              </a:rPr>
              <a:t>This project focuses on analyzing Zomato restaurant data to understand key business aspects such as :</a:t>
            </a:r>
          </a:p>
          <a:p>
            <a:pPr marL="342900" indent="-342900">
              <a:buFont typeface="Wingdings" panose="05000000000000000000" pitchFamily="2" charset="2"/>
              <a:buChar char="Ø"/>
            </a:pPr>
            <a:r>
              <a:rPr lang="en-US" sz="2800" dirty="0">
                <a:solidFill>
                  <a:schemeClr val="bg1"/>
                </a:solidFill>
              </a:rPr>
              <a:t>Restaurant distribution across cities and countries</a:t>
            </a:r>
          </a:p>
          <a:p>
            <a:pPr marL="342900" indent="-342900">
              <a:buFont typeface="Wingdings" panose="05000000000000000000" pitchFamily="2" charset="2"/>
              <a:buChar char="Ø"/>
            </a:pPr>
            <a:r>
              <a:rPr lang="en-US" sz="2800" dirty="0">
                <a:solidFill>
                  <a:schemeClr val="bg1"/>
                </a:solidFill>
              </a:rPr>
              <a:t>Customer preferences based on ratings and cuisines</a:t>
            </a:r>
          </a:p>
          <a:p>
            <a:pPr marL="342900" indent="-342900">
              <a:buFont typeface="Wingdings" panose="05000000000000000000" pitchFamily="2" charset="2"/>
              <a:buChar char="Ø"/>
            </a:pPr>
            <a:r>
              <a:rPr lang="en-US" sz="2800" dirty="0">
                <a:solidFill>
                  <a:schemeClr val="bg1"/>
                </a:solidFill>
              </a:rPr>
              <a:t>Availability of services like online delivery and table booking.</a:t>
            </a:r>
          </a:p>
          <a:p>
            <a:pPr marL="342900" indent="-342900">
              <a:buFont typeface="Wingdings" panose="05000000000000000000" pitchFamily="2" charset="2"/>
              <a:buChar char="Ø"/>
            </a:pPr>
            <a:r>
              <a:rPr lang="en-US" sz="2800" dirty="0">
                <a:solidFill>
                  <a:schemeClr val="bg1"/>
                </a:solidFill>
              </a:rPr>
              <a:t>By using data analytics tools, the project aims to transform raw data into meaningful insights that can help businesses improve decision-making and customer experience.</a:t>
            </a:r>
          </a:p>
        </p:txBody>
      </p:sp>
      <p:sp>
        <p:nvSpPr>
          <p:cNvPr id="21" name="TextBox 21"/>
          <p:cNvSpPr txBox="1"/>
          <p:nvPr/>
        </p:nvSpPr>
        <p:spPr>
          <a:xfrm>
            <a:off x="8105059" y="3405438"/>
            <a:ext cx="7739004" cy="492443"/>
          </a:xfrm>
          <a:prstGeom prst="rect">
            <a:avLst/>
          </a:prstGeom>
        </p:spPr>
        <p:txBody>
          <a:bodyPr wrap="square" lIns="0" tIns="0" rIns="0" bIns="0" rtlCol="0" anchor="t">
            <a:spAutoFit/>
          </a:bodyPr>
          <a:lstStyle/>
          <a:p>
            <a:r>
              <a:rPr lang="en-US" sz="3200" b="1" dirty="0">
                <a:solidFill>
                  <a:schemeClr val="bg1"/>
                </a:solidFill>
              </a:rPr>
              <a:t>Domain: Food and Restaurant Analytics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10800000" flipH="1" flipV="1">
            <a:off x="-4776038" y="1265598"/>
            <a:ext cx="9089382" cy="9089382"/>
          </a:xfrm>
          <a:custGeom>
            <a:avLst/>
            <a:gdLst/>
            <a:ahLst/>
            <a:cxnLst/>
            <a:rect l="l" t="t" r="r" b="b"/>
            <a:pathLst>
              <a:path w="9089382" h="9089382">
                <a:moveTo>
                  <a:pt x="9089382" y="9089383"/>
                </a:moveTo>
                <a:lnTo>
                  <a:pt x="0" y="9089383"/>
                </a:lnTo>
                <a:lnTo>
                  <a:pt x="0" y="0"/>
                </a:lnTo>
                <a:lnTo>
                  <a:pt x="9089382" y="0"/>
                </a:lnTo>
                <a:lnTo>
                  <a:pt x="9089382"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662904" y="799624"/>
            <a:ext cx="506110" cy="597340"/>
          </a:xfrm>
          <a:custGeom>
            <a:avLst/>
            <a:gdLst/>
            <a:ahLst/>
            <a:cxnLst/>
            <a:rect l="l" t="t" r="r" b="b"/>
            <a:pathLst>
              <a:path w="506110" h="597340">
                <a:moveTo>
                  <a:pt x="0" y="0"/>
                </a:moveTo>
                <a:lnTo>
                  <a:pt x="506110" y="0"/>
                </a:lnTo>
                <a:lnTo>
                  <a:pt x="506110" y="597341"/>
                </a:lnTo>
                <a:lnTo>
                  <a:pt x="0" y="59734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AutoShape 5"/>
          <p:cNvSpPr/>
          <p:nvPr/>
        </p:nvSpPr>
        <p:spPr>
          <a:xfrm>
            <a:off x="1662904" y="2713235"/>
            <a:ext cx="57368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6" name="Freeform 6"/>
          <p:cNvSpPr/>
          <p:nvPr/>
        </p:nvSpPr>
        <p:spPr>
          <a:xfrm rot="-10800000">
            <a:off x="9407617" y="-2634475"/>
            <a:ext cx="9089382" cy="9089382"/>
          </a:xfrm>
          <a:custGeom>
            <a:avLst/>
            <a:gdLst/>
            <a:ahLst/>
            <a:cxnLst/>
            <a:rect l="l" t="t" r="r" b="b"/>
            <a:pathLst>
              <a:path w="9089382" h="9089382">
                <a:moveTo>
                  <a:pt x="0" y="0"/>
                </a:moveTo>
                <a:lnTo>
                  <a:pt x="9089383" y="0"/>
                </a:lnTo>
                <a:lnTo>
                  <a:pt x="9089383"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1" name="TextBox 21"/>
          <p:cNvSpPr txBox="1"/>
          <p:nvPr/>
        </p:nvSpPr>
        <p:spPr>
          <a:xfrm>
            <a:off x="1662904" y="1887318"/>
            <a:ext cx="9871179" cy="624082"/>
          </a:xfrm>
          <a:prstGeom prst="rect">
            <a:avLst/>
          </a:prstGeom>
        </p:spPr>
        <p:txBody>
          <a:bodyPr lIns="0" tIns="0" rIns="0" bIns="0" rtlCol="0" anchor="t">
            <a:spAutoFit/>
          </a:bodyPr>
          <a:lstStyle/>
          <a:p>
            <a:pPr lvl="0" algn="just">
              <a:lnSpc>
                <a:spcPts val="4519"/>
              </a:lnSpc>
            </a:pPr>
            <a:r>
              <a:rPr lang="en-IN" sz="5400" dirty="0">
                <a:solidFill>
                  <a:schemeClr val="bg1"/>
                </a:solidFill>
                <a:latin typeface="Arial Black" panose="020B0A04020102020204" pitchFamily="34" charset="0"/>
              </a:rPr>
              <a:t>DATA OVERVIEW</a:t>
            </a:r>
            <a:endParaRPr lang="en-US" sz="5021" b="1" dirty="0">
              <a:solidFill>
                <a:schemeClr val="bg1"/>
              </a:solidFill>
              <a:latin typeface="Poppins Semi-Bold"/>
              <a:ea typeface="Poppins Semi-Bold"/>
              <a:cs typeface="Poppins Semi-Bold"/>
              <a:sym typeface="Poppins Semi-Bold"/>
            </a:endParaRPr>
          </a:p>
        </p:txBody>
      </p:sp>
      <p:sp>
        <p:nvSpPr>
          <p:cNvPr id="27" name="TextBox 27"/>
          <p:cNvSpPr txBox="1"/>
          <p:nvPr/>
        </p:nvSpPr>
        <p:spPr>
          <a:xfrm>
            <a:off x="1167386" y="3437238"/>
            <a:ext cx="12243814" cy="4850687"/>
          </a:xfrm>
          <a:prstGeom prst="rect">
            <a:avLst/>
          </a:prstGeom>
        </p:spPr>
        <p:txBody>
          <a:bodyPr wrap="square" lIns="0" tIns="0" rIns="0" bIns="0" rtlCol="0" anchor="t">
            <a:spAutoFit/>
          </a:bodyPr>
          <a:lstStyle/>
          <a:p>
            <a:pPr marL="285750" lvl="0" indent="-285750">
              <a:lnSpc>
                <a:spcPts val="1827"/>
              </a:lnSpc>
              <a:buFont typeface="Wingdings" panose="05000000000000000000" pitchFamily="2" charset="2"/>
              <a:buChar char="Ø"/>
            </a:pPr>
            <a:r>
              <a:rPr lang="en-IN" sz="2800" b="1" dirty="0">
                <a:solidFill>
                  <a:schemeClr val="bg1"/>
                </a:solidFill>
              </a:rPr>
              <a:t>Dataset Source:</a:t>
            </a:r>
            <a:r>
              <a:rPr lang="en-IN" sz="2800" dirty="0">
                <a:solidFill>
                  <a:schemeClr val="bg1"/>
                </a:solidFill>
              </a:rPr>
              <a:t> Zomato Restaurant Dataset</a:t>
            </a:r>
          </a:p>
          <a:p>
            <a:pPr marL="285750" lvl="0" indent="-285750">
              <a:lnSpc>
                <a:spcPts val="1827"/>
              </a:lnSpc>
              <a:buFont typeface="Wingdings" panose="05000000000000000000" pitchFamily="2" charset="2"/>
              <a:buChar char="Ø"/>
            </a:pPr>
            <a:endParaRPr lang="en-IN" sz="2800" dirty="0">
              <a:solidFill>
                <a:schemeClr val="bg1"/>
              </a:solidFill>
            </a:endParaRPr>
          </a:p>
          <a:p>
            <a:pPr marL="285750" lvl="0" indent="-285750">
              <a:lnSpc>
                <a:spcPts val="1827"/>
              </a:lnSpc>
              <a:buFont typeface="Wingdings" panose="05000000000000000000" pitchFamily="2" charset="2"/>
              <a:buChar char="Ø"/>
            </a:pPr>
            <a:r>
              <a:rPr lang="en-IN" sz="2800" b="1" dirty="0">
                <a:solidFill>
                  <a:schemeClr val="bg1"/>
                </a:solidFill>
              </a:rPr>
              <a:t>Dataset Type: </a:t>
            </a:r>
            <a:r>
              <a:rPr lang="en-IN" sz="2800" dirty="0">
                <a:solidFill>
                  <a:schemeClr val="bg1"/>
                </a:solidFill>
              </a:rPr>
              <a:t>Excel</a:t>
            </a:r>
          </a:p>
          <a:p>
            <a:pPr marL="285750" lvl="0" indent="-285750">
              <a:lnSpc>
                <a:spcPts val="1827"/>
              </a:lnSpc>
              <a:buFont typeface="Wingdings" panose="05000000000000000000" pitchFamily="2" charset="2"/>
              <a:buChar char="Ø"/>
            </a:pPr>
            <a:endParaRPr lang="en-IN" sz="2800" dirty="0">
              <a:solidFill>
                <a:schemeClr val="bg1"/>
              </a:solidFill>
            </a:endParaRPr>
          </a:p>
          <a:p>
            <a:pPr marL="285750" indent="-285750">
              <a:lnSpc>
                <a:spcPts val="1827"/>
              </a:lnSpc>
              <a:buFont typeface="Wingdings" panose="05000000000000000000" pitchFamily="2" charset="2"/>
              <a:buChar char="Ø"/>
            </a:pPr>
            <a:r>
              <a:rPr lang="en-IN" sz="2800" b="1" dirty="0">
                <a:solidFill>
                  <a:schemeClr val="bg1"/>
                </a:solidFill>
              </a:rPr>
              <a:t>Total Records: </a:t>
            </a:r>
            <a:r>
              <a:rPr lang="en-IN" sz="2800" dirty="0">
                <a:solidFill>
                  <a:schemeClr val="bg1"/>
                </a:solidFill>
              </a:rPr>
              <a:t>9500 + Restaurants</a:t>
            </a:r>
          </a:p>
          <a:p>
            <a:pPr marL="285750" indent="-285750">
              <a:lnSpc>
                <a:spcPts val="1827"/>
              </a:lnSpc>
              <a:buFont typeface="Wingdings" panose="05000000000000000000" pitchFamily="2" charset="2"/>
              <a:buChar char="Ø"/>
            </a:pPr>
            <a:endParaRPr lang="en-IN" sz="2400" dirty="0">
              <a:solidFill>
                <a:schemeClr val="bg1"/>
              </a:solidFill>
            </a:endParaRPr>
          </a:p>
          <a:p>
            <a:pPr marL="285750" indent="-285750">
              <a:lnSpc>
                <a:spcPts val="1827"/>
              </a:lnSpc>
              <a:buFont typeface="Wingdings" panose="05000000000000000000" pitchFamily="2" charset="2"/>
              <a:buChar char="Ø"/>
            </a:pPr>
            <a:r>
              <a:rPr lang="en-IN" sz="2400" b="1" dirty="0">
                <a:solidFill>
                  <a:schemeClr val="bg1"/>
                </a:solidFill>
              </a:rPr>
              <a:t>Data Description:  </a:t>
            </a:r>
            <a:r>
              <a:rPr lang="en-US" sz="2400" dirty="0">
                <a:solidFill>
                  <a:schemeClr val="bg1"/>
                </a:solidFill>
              </a:rPr>
              <a:t>The dataset contains detailed information about</a:t>
            </a:r>
          </a:p>
          <a:p>
            <a:pPr>
              <a:lnSpc>
                <a:spcPts val="1827"/>
              </a:lnSpc>
            </a:pPr>
            <a:r>
              <a:rPr lang="en-US" sz="2400" dirty="0">
                <a:solidFill>
                  <a:schemeClr val="bg1"/>
                </a:solidFill>
              </a:rPr>
              <a:t>   restaurants across multiple cities and countries, including their location, ratings, pricing, cuisines, and service features</a:t>
            </a:r>
            <a:r>
              <a:rPr lang="en-US" sz="2800" dirty="0">
                <a:solidFill>
                  <a:schemeClr val="bg1"/>
                </a:solidFill>
              </a:rPr>
              <a:t>.</a:t>
            </a:r>
          </a:p>
          <a:p>
            <a:pPr marL="285750" indent="-285750">
              <a:lnSpc>
                <a:spcPts val="1827"/>
              </a:lnSpc>
              <a:buFont typeface="Wingdings" panose="05000000000000000000" pitchFamily="2" charset="2"/>
              <a:buChar char="Ø"/>
            </a:pPr>
            <a:endParaRPr lang="en-US" sz="2800" dirty="0">
              <a:solidFill>
                <a:schemeClr val="bg1"/>
              </a:solidFill>
            </a:endParaRPr>
          </a:p>
          <a:p>
            <a:pPr marL="285750" indent="-285750">
              <a:lnSpc>
                <a:spcPts val="1827"/>
              </a:lnSpc>
              <a:buFont typeface="Wingdings" panose="05000000000000000000" pitchFamily="2" charset="2"/>
              <a:buChar char="Ø"/>
            </a:pPr>
            <a:r>
              <a:rPr lang="en-US" sz="2800" b="1" dirty="0">
                <a:solidFill>
                  <a:schemeClr val="bg1"/>
                </a:solidFill>
              </a:rPr>
              <a:t>Important Columns:</a:t>
            </a:r>
          </a:p>
          <a:p>
            <a:pPr marL="400050" lvl="1" indent="0">
              <a:buNone/>
            </a:pPr>
            <a:r>
              <a:rPr lang="en-US" sz="1900" dirty="0">
                <a:solidFill>
                  <a:schemeClr val="bg1"/>
                </a:solidFill>
              </a:rPr>
              <a:t> </a:t>
            </a:r>
            <a:r>
              <a:rPr lang="en-US" sz="2400" dirty="0">
                <a:solidFill>
                  <a:schemeClr val="bg1"/>
                </a:solidFill>
              </a:rPr>
              <a:t>City &amp; Country Code – Location details </a:t>
            </a:r>
          </a:p>
          <a:p>
            <a:pPr marL="400050" lvl="1" indent="0">
              <a:buNone/>
            </a:pPr>
            <a:r>
              <a:rPr lang="en-US" sz="2400" dirty="0">
                <a:solidFill>
                  <a:schemeClr val="bg1"/>
                </a:solidFill>
              </a:rPr>
              <a:t>Cuisines – Type of food served</a:t>
            </a:r>
          </a:p>
          <a:p>
            <a:pPr marL="400050" lvl="1" indent="0">
              <a:buNone/>
            </a:pPr>
            <a:r>
              <a:rPr lang="en-US" sz="2400" dirty="0">
                <a:solidFill>
                  <a:schemeClr val="bg1"/>
                </a:solidFill>
              </a:rPr>
              <a:t>Average Cost for two – Pricing Indicator </a:t>
            </a:r>
          </a:p>
          <a:p>
            <a:pPr marL="400050" lvl="1" indent="0">
              <a:buNone/>
            </a:pPr>
            <a:r>
              <a:rPr lang="en-US" sz="2400" dirty="0">
                <a:solidFill>
                  <a:schemeClr val="bg1"/>
                </a:solidFill>
              </a:rPr>
              <a:t>Aggregate Rating – Customer rating (0-5 scale)</a:t>
            </a:r>
          </a:p>
          <a:p>
            <a:pPr marL="400050" lvl="1" indent="0">
              <a:buNone/>
            </a:pPr>
            <a:r>
              <a:rPr lang="en-US" sz="2400" dirty="0">
                <a:solidFill>
                  <a:schemeClr val="bg1"/>
                </a:solidFill>
              </a:rPr>
              <a:t>Date Key – Used for time – based analysis</a:t>
            </a:r>
            <a:endParaRPr lang="en-IN" sz="2400" b="1" dirty="0">
              <a:solidFill>
                <a:schemeClr val="bg1"/>
              </a:solidFill>
            </a:endParaRPr>
          </a:p>
          <a:p>
            <a:pPr marL="285750" indent="-285750">
              <a:lnSpc>
                <a:spcPts val="1827"/>
              </a:lnSpc>
              <a:buFont typeface="Wingdings" panose="05000000000000000000" pitchFamily="2" charset="2"/>
              <a:buChar char="Ø"/>
            </a:pPr>
            <a:endParaRPr lang="en-US" dirty="0">
              <a:solidFill>
                <a:schemeClr val="bg1"/>
              </a:solidFill>
            </a:endParaRPr>
          </a:p>
          <a:p>
            <a:pPr marL="285750" indent="-285750">
              <a:lnSpc>
                <a:spcPts val="1827"/>
              </a:lnSpc>
              <a:buFont typeface="Wingdings" panose="05000000000000000000" pitchFamily="2" charset="2"/>
              <a:buChar char="Ø"/>
            </a:pPr>
            <a:endParaRPr lang="en-IN" dirty="0">
              <a:solidFill>
                <a:schemeClr val="bg1"/>
              </a:solidFill>
            </a:endParaRPr>
          </a:p>
        </p:txBody>
      </p:sp>
      <p:sp>
        <p:nvSpPr>
          <p:cNvPr id="31" name="Freeform 31"/>
          <p:cNvSpPr/>
          <p:nvPr/>
        </p:nvSpPr>
        <p:spPr>
          <a:xfrm>
            <a:off x="8517102" y="9167040"/>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2" name="Freeform 32"/>
          <p:cNvSpPr/>
          <p:nvPr/>
        </p:nvSpPr>
        <p:spPr>
          <a:xfrm>
            <a:off x="-626898" y="464704"/>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3" name="Freeform 33"/>
          <p:cNvSpPr/>
          <p:nvPr/>
        </p:nvSpPr>
        <p:spPr>
          <a:xfrm>
            <a:off x="11969490" y="2202939"/>
            <a:ext cx="1081704" cy="845696"/>
          </a:xfrm>
          <a:custGeom>
            <a:avLst/>
            <a:gdLst/>
            <a:ahLst/>
            <a:cxnLst/>
            <a:rect l="l" t="t" r="r" b="b"/>
            <a:pathLst>
              <a:path w="1081704" h="845696">
                <a:moveTo>
                  <a:pt x="0" y="0"/>
                </a:moveTo>
                <a:lnTo>
                  <a:pt x="1081704" y="0"/>
                </a:lnTo>
                <a:lnTo>
                  <a:pt x="1081704" y="845696"/>
                </a:lnTo>
                <a:lnTo>
                  <a:pt x="0" y="8456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10800000" flipH="1" flipV="1">
            <a:off x="-3677851" y="14881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p:cNvSpPr/>
          <p:nvPr/>
        </p:nvSpPr>
        <p:spPr>
          <a:xfrm>
            <a:off x="4980199" y="3200299"/>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16459593" y="588746"/>
            <a:ext cx="2681007" cy="2096060"/>
          </a:xfrm>
          <a:custGeom>
            <a:avLst/>
            <a:gdLst/>
            <a:ahLst/>
            <a:cxnLst/>
            <a:rect l="l" t="t" r="r" b="b"/>
            <a:pathLst>
              <a:path w="2681007" h="2096060">
                <a:moveTo>
                  <a:pt x="0" y="0"/>
                </a:moveTo>
                <a:lnTo>
                  <a:pt x="2681007" y="0"/>
                </a:lnTo>
                <a:lnTo>
                  <a:pt x="2681007" y="2096059"/>
                </a:lnTo>
                <a:lnTo>
                  <a:pt x="0" y="20960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a:off x="-311803" y="1636776"/>
            <a:ext cx="1340503" cy="1048030"/>
          </a:xfrm>
          <a:custGeom>
            <a:avLst/>
            <a:gdLst/>
            <a:ahLst/>
            <a:cxnLst/>
            <a:rect l="l" t="t" r="r" b="b"/>
            <a:pathLst>
              <a:path w="1340503" h="1048030">
                <a:moveTo>
                  <a:pt x="0" y="0"/>
                </a:moveTo>
                <a:lnTo>
                  <a:pt x="1340503" y="0"/>
                </a:lnTo>
                <a:lnTo>
                  <a:pt x="1340503" y="1048029"/>
                </a:lnTo>
                <a:lnTo>
                  <a:pt x="0" y="10480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10" name="Group 10"/>
          <p:cNvGrpSpPr/>
          <p:nvPr/>
        </p:nvGrpSpPr>
        <p:grpSpPr>
          <a:xfrm>
            <a:off x="8272594" y="5213943"/>
            <a:ext cx="1742812" cy="1995969"/>
            <a:chOff x="0" y="-66675"/>
            <a:chExt cx="459012" cy="525687"/>
          </a:xfrm>
        </p:grpSpPr>
        <p:sp>
          <p:nvSpPr>
            <p:cNvPr id="11" name="Freeform 11"/>
            <p:cNvSpPr/>
            <p:nvPr/>
          </p:nvSpPr>
          <p:spPr>
            <a:xfrm>
              <a:off x="0" y="0"/>
              <a:ext cx="459012" cy="459012"/>
            </a:xfrm>
            <a:custGeom>
              <a:avLst/>
              <a:gdLst/>
              <a:ahLst/>
              <a:cxnLst/>
              <a:rect l="l" t="t" r="r" b="b"/>
              <a:pathLst>
                <a:path w="459012" h="459012">
                  <a:moveTo>
                    <a:pt x="48864" y="0"/>
                  </a:moveTo>
                  <a:lnTo>
                    <a:pt x="410148" y="0"/>
                  </a:lnTo>
                  <a:cubicBezTo>
                    <a:pt x="423108" y="0"/>
                    <a:pt x="435536" y="5148"/>
                    <a:pt x="444700" y="14312"/>
                  </a:cubicBezTo>
                  <a:cubicBezTo>
                    <a:pt x="453864" y="23476"/>
                    <a:pt x="459012" y="35905"/>
                    <a:pt x="459012" y="48864"/>
                  </a:cubicBezTo>
                  <a:lnTo>
                    <a:pt x="459012" y="410148"/>
                  </a:lnTo>
                  <a:cubicBezTo>
                    <a:pt x="459012" y="437135"/>
                    <a:pt x="437135" y="459012"/>
                    <a:pt x="410148" y="459012"/>
                  </a:cubicBezTo>
                  <a:lnTo>
                    <a:pt x="48864" y="459012"/>
                  </a:lnTo>
                  <a:cubicBezTo>
                    <a:pt x="21877" y="459012"/>
                    <a:pt x="0" y="437135"/>
                    <a:pt x="0" y="410148"/>
                  </a:cubicBezTo>
                  <a:lnTo>
                    <a:pt x="0" y="48864"/>
                  </a:lnTo>
                  <a:cubicBezTo>
                    <a:pt x="0" y="21877"/>
                    <a:pt x="21877" y="0"/>
                    <a:pt x="48864" y="0"/>
                  </a:cubicBezTo>
                  <a:close/>
                </a:path>
              </a:pathLst>
            </a:custGeom>
            <a:solidFill>
              <a:srgbClr val="D73125"/>
            </a:solidFill>
          </p:spPr>
          <p:txBody>
            <a:bodyPr/>
            <a:lstStyle/>
            <a:p>
              <a:endParaRPr lang="en-IN"/>
            </a:p>
          </p:txBody>
        </p:sp>
        <p:sp>
          <p:nvSpPr>
            <p:cNvPr id="12" name="TextBox 12"/>
            <p:cNvSpPr txBox="1"/>
            <p:nvPr/>
          </p:nvSpPr>
          <p:spPr>
            <a:xfrm>
              <a:off x="0" y="-66675"/>
              <a:ext cx="459012" cy="525687"/>
            </a:xfrm>
            <a:prstGeom prst="rect">
              <a:avLst/>
            </a:prstGeom>
          </p:spPr>
          <p:txBody>
            <a:bodyPr lIns="50800" tIns="50800" rIns="50800" bIns="50800" rtlCol="0" anchor="ctr"/>
            <a:lstStyle/>
            <a:p>
              <a:pPr marL="0" lvl="0" indent="0" algn="ctr">
                <a:lnSpc>
                  <a:spcPts val="2800"/>
                </a:lnSpc>
              </a:pPr>
              <a:endParaRPr/>
            </a:p>
          </p:txBody>
        </p:sp>
      </p:grpSp>
      <p:grpSp>
        <p:nvGrpSpPr>
          <p:cNvPr id="13" name="Group 13"/>
          <p:cNvGrpSpPr/>
          <p:nvPr/>
        </p:nvGrpSpPr>
        <p:grpSpPr>
          <a:xfrm>
            <a:off x="5072020" y="5467100"/>
            <a:ext cx="1742812" cy="1742812"/>
            <a:chOff x="0" y="0"/>
            <a:chExt cx="459012" cy="459012"/>
          </a:xfrm>
        </p:grpSpPr>
        <p:sp>
          <p:nvSpPr>
            <p:cNvPr id="14" name="Freeform 14"/>
            <p:cNvSpPr/>
            <p:nvPr/>
          </p:nvSpPr>
          <p:spPr>
            <a:xfrm>
              <a:off x="0" y="0"/>
              <a:ext cx="459012" cy="459012"/>
            </a:xfrm>
            <a:custGeom>
              <a:avLst/>
              <a:gdLst/>
              <a:ahLst/>
              <a:cxnLst/>
              <a:rect l="l" t="t" r="r" b="b"/>
              <a:pathLst>
                <a:path w="459012" h="459012">
                  <a:moveTo>
                    <a:pt x="48864" y="0"/>
                  </a:moveTo>
                  <a:lnTo>
                    <a:pt x="410148" y="0"/>
                  </a:lnTo>
                  <a:cubicBezTo>
                    <a:pt x="423108" y="0"/>
                    <a:pt x="435536" y="5148"/>
                    <a:pt x="444700" y="14312"/>
                  </a:cubicBezTo>
                  <a:cubicBezTo>
                    <a:pt x="453864" y="23476"/>
                    <a:pt x="459012" y="35905"/>
                    <a:pt x="459012" y="48864"/>
                  </a:cubicBezTo>
                  <a:lnTo>
                    <a:pt x="459012" y="410148"/>
                  </a:lnTo>
                  <a:cubicBezTo>
                    <a:pt x="459012" y="437135"/>
                    <a:pt x="437135" y="459012"/>
                    <a:pt x="410148" y="459012"/>
                  </a:cubicBezTo>
                  <a:lnTo>
                    <a:pt x="48864" y="459012"/>
                  </a:lnTo>
                  <a:cubicBezTo>
                    <a:pt x="21877" y="459012"/>
                    <a:pt x="0" y="437135"/>
                    <a:pt x="0" y="410148"/>
                  </a:cubicBezTo>
                  <a:lnTo>
                    <a:pt x="0" y="48864"/>
                  </a:lnTo>
                  <a:cubicBezTo>
                    <a:pt x="0" y="21877"/>
                    <a:pt x="21877" y="0"/>
                    <a:pt x="48864" y="0"/>
                  </a:cubicBezTo>
                  <a:close/>
                </a:path>
              </a:pathLst>
            </a:custGeom>
            <a:solidFill>
              <a:srgbClr val="D73125"/>
            </a:solidFill>
          </p:spPr>
          <p:txBody>
            <a:bodyPr/>
            <a:lstStyle/>
            <a:p>
              <a:endParaRPr lang="en-IN"/>
            </a:p>
          </p:txBody>
        </p:sp>
        <p:sp>
          <p:nvSpPr>
            <p:cNvPr id="15" name="TextBox 15"/>
            <p:cNvSpPr txBox="1"/>
            <p:nvPr/>
          </p:nvSpPr>
          <p:spPr>
            <a:xfrm>
              <a:off x="0" y="-66675"/>
              <a:ext cx="459012" cy="525687"/>
            </a:xfrm>
            <a:prstGeom prst="rect">
              <a:avLst/>
            </a:prstGeom>
          </p:spPr>
          <p:txBody>
            <a:bodyPr lIns="50800" tIns="50800" rIns="50800" bIns="50800" rtlCol="0" anchor="ctr"/>
            <a:lstStyle/>
            <a:p>
              <a:pPr marL="0" lvl="0" indent="0" algn="ctr">
                <a:lnSpc>
                  <a:spcPts val="2800"/>
                </a:lnSpc>
              </a:pPr>
              <a:endParaRPr/>
            </a:p>
          </p:txBody>
        </p:sp>
      </p:grpSp>
      <p:grpSp>
        <p:nvGrpSpPr>
          <p:cNvPr id="16" name="Group 16"/>
          <p:cNvGrpSpPr/>
          <p:nvPr/>
        </p:nvGrpSpPr>
        <p:grpSpPr>
          <a:xfrm>
            <a:off x="14425655" y="5467100"/>
            <a:ext cx="1742812" cy="1742812"/>
            <a:chOff x="0" y="0"/>
            <a:chExt cx="459012" cy="459012"/>
          </a:xfrm>
        </p:grpSpPr>
        <p:sp>
          <p:nvSpPr>
            <p:cNvPr id="17" name="Freeform 17"/>
            <p:cNvSpPr/>
            <p:nvPr/>
          </p:nvSpPr>
          <p:spPr>
            <a:xfrm>
              <a:off x="0" y="0"/>
              <a:ext cx="459012" cy="459012"/>
            </a:xfrm>
            <a:custGeom>
              <a:avLst/>
              <a:gdLst/>
              <a:ahLst/>
              <a:cxnLst/>
              <a:rect l="l" t="t" r="r" b="b"/>
              <a:pathLst>
                <a:path w="459012" h="459012">
                  <a:moveTo>
                    <a:pt x="48864" y="0"/>
                  </a:moveTo>
                  <a:lnTo>
                    <a:pt x="410148" y="0"/>
                  </a:lnTo>
                  <a:cubicBezTo>
                    <a:pt x="423108" y="0"/>
                    <a:pt x="435536" y="5148"/>
                    <a:pt x="444700" y="14312"/>
                  </a:cubicBezTo>
                  <a:cubicBezTo>
                    <a:pt x="453864" y="23476"/>
                    <a:pt x="459012" y="35905"/>
                    <a:pt x="459012" y="48864"/>
                  </a:cubicBezTo>
                  <a:lnTo>
                    <a:pt x="459012" y="410148"/>
                  </a:lnTo>
                  <a:cubicBezTo>
                    <a:pt x="459012" y="437135"/>
                    <a:pt x="437135" y="459012"/>
                    <a:pt x="410148" y="459012"/>
                  </a:cubicBezTo>
                  <a:lnTo>
                    <a:pt x="48864" y="459012"/>
                  </a:lnTo>
                  <a:cubicBezTo>
                    <a:pt x="21877" y="459012"/>
                    <a:pt x="0" y="437135"/>
                    <a:pt x="0" y="410148"/>
                  </a:cubicBezTo>
                  <a:lnTo>
                    <a:pt x="0" y="48864"/>
                  </a:lnTo>
                  <a:cubicBezTo>
                    <a:pt x="0" y="21877"/>
                    <a:pt x="21877" y="0"/>
                    <a:pt x="48864" y="0"/>
                  </a:cubicBezTo>
                  <a:close/>
                </a:path>
              </a:pathLst>
            </a:custGeom>
            <a:solidFill>
              <a:srgbClr val="D73125"/>
            </a:solidFill>
          </p:spPr>
          <p:txBody>
            <a:bodyPr/>
            <a:lstStyle/>
            <a:p>
              <a:endParaRPr lang="en-IN"/>
            </a:p>
          </p:txBody>
        </p:sp>
        <p:sp>
          <p:nvSpPr>
            <p:cNvPr id="18" name="TextBox 18"/>
            <p:cNvSpPr txBox="1"/>
            <p:nvPr/>
          </p:nvSpPr>
          <p:spPr>
            <a:xfrm>
              <a:off x="0" y="-66675"/>
              <a:ext cx="459012" cy="525687"/>
            </a:xfrm>
            <a:prstGeom prst="rect">
              <a:avLst/>
            </a:prstGeom>
          </p:spPr>
          <p:txBody>
            <a:bodyPr lIns="50800" tIns="50800" rIns="50800" bIns="50800" rtlCol="0" anchor="ctr"/>
            <a:lstStyle/>
            <a:p>
              <a:pPr marL="0" lvl="0" indent="0" algn="ctr">
                <a:lnSpc>
                  <a:spcPts val="2800"/>
                </a:lnSpc>
              </a:pPr>
              <a:endParaRPr/>
            </a:p>
          </p:txBody>
        </p:sp>
      </p:grpSp>
      <p:grpSp>
        <p:nvGrpSpPr>
          <p:cNvPr id="19" name="Group 19"/>
          <p:cNvGrpSpPr/>
          <p:nvPr/>
        </p:nvGrpSpPr>
        <p:grpSpPr>
          <a:xfrm>
            <a:off x="1871447" y="5467100"/>
            <a:ext cx="1742812" cy="1742812"/>
            <a:chOff x="0" y="0"/>
            <a:chExt cx="459012" cy="459012"/>
          </a:xfrm>
        </p:grpSpPr>
        <p:sp>
          <p:nvSpPr>
            <p:cNvPr id="20" name="Freeform 20"/>
            <p:cNvSpPr/>
            <p:nvPr/>
          </p:nvSpPr>
          <p:spPr>
            <a:xfrm>
              <a:off x="0" y="0"/>
              <a:ext cx="459012" cy="459012"/>
            </a:xfrm>
            <a:custGeom>
              <a:avLst/>
              <a:gdLst/>
              <a:ahLst/>
              <a:cxnLst/>
              <a:rect l="l" t="t" r="r" b="b"/>
              <a:pathLst>
                <a:path w="459012" h="459012">
                  <a:moveTo>
                    <a:pt x="48864" y="0"/>
                  </a:moveTo>
                  <a:lnTo>
                    <a:pt x="410148" y="0"/>
                  </a:lnTo>
                  <a:cubicBezTo>
                    <a:pt x="423108" y="0"/>
                    <a:pt x="435536" y="5148"/>
                    <a:pt x="444700" y="14312"/>
                  </a:cubicBezTo>
                  <a:cubicBezTo>
                    <a:pt x="453864" y="23476"/>
                    <a:pt x="459012" y="35905"/>
                    <a:pt x="459012" y="48864"/>
                  </a:cubicBezTo>
                  <a:lnTo>
                    <a:pt x="459012" y="410148"/>
                  </a:lnTo>
                  <a:cubicBezTo>
                    <a:pt x="459012" y="437135"/>
                    <a:pt x="437135" y="459012"/>
                    <a:pt x="410148" y="459012"/>
                  </a:cubicBezTo>
                  <a:lnTo>
                    <a:pt x="48864" y="459012"/>
                  </a:lnTo>
                  <a:cubicBezTo>
                    <a:pt x="21877" y="459012"/>
                    <a:pt x="0" y="437135"/>
                    <a:pt x="0" y="410148"/>
                  </a:cubicBezTo>
                  <a:lnTo>
                    <a:pt x="0" y="48864"/>
                  </a:lnTo>
                  <a:cubicBezTo>
                    <a:pt x="0" y="21877"/>
                    <a:pt x="21877" y="0"/>
                    <a:pt x="48864" y="0"/>
                  </a:cubicBezTo>
                  <a:close/>
                </a:path>
              </a:pathLst>
            </a:custGeom>
            <a:solidFill>
              <a:srgbClr val="D73125"/>
            </a:solidFill>
          </p:spPr>
          <p:txBody>
            <a:bodyPr/>
            <a:lstStyle/>
            <a:p>
              <a:endParaRPr lang="en-IN"/>
            </a:p>
          </p:txBody>
        </p:sp>
        <p:sp>
          <p:nvSpPr>
            <p:cNvPr id="21" name="TextBox 21"/>
            <p:cNvSpPr txBox="1"/>
            <p:nvPr/>
          </p:nvSpPr>
          <p:spPr>
            <a:xfrm>
              <a:off x="0" y="-66675"/>
              <a:ext cx="459012" cy="525687"/>
            </a:xfrm>
            <a:prstGeom prst="rect">
              <a:avLst/>
            </a:prstGeom>
          </p:spPr>
          <p:txBody>
            <a:bodyPr lIns="50800" tIns="50800" rIns="50800" bIns="50800" rtlCol="0" anchor="ctr"/>
            <a:lstStyle/>
            <a:p>
              <a:pPr marL="0" lvl="0" indent="0" algn="ctr">
                <a:lnSpc>
                  <a:spcPts val="2800"/>
                </a:lnSpc>
              </a:pPr>
              <a:endParaRPr/>
            </a:p>
          </p:txBody>
        </p:sp>
      </p:grpSp>
      <p:grpSp>
        <p:nvGrpSpPr>
          <p:cNvPr id="22" name="Group 22"/>
          <p:cNvGrpSpPr/>
          <p:nvPr/>
        </p:nvGrpSpPr>
        <p:grpSpPr>
          <a:xfrm>
            <a:off x="11225081" y="5467100"/>
            <a:ext cx="1742812" cy="1742812"/>
            <a:chOff x="0" y="0"/>
            <a:chExt cx="459012" cy="459012"/>
          </a:xfrm>
        </p:grpSpPr>
        <p:sp>
          <p:nvSpPr>
            <p:cNvPr id="23" name="Freeform 23"/>
            <p:cNvSpPr/>
            <p:nvPr/>
          </p:nvSpPr>
          <p:spPr>
            <a:xfrm>
              <a:off x="0" y="0"/>
              <a:ext cx="459012" cy="459012"/>
            </a:xfrm>
            <a:custGeom>
              <a:avLst/>
              <a:gdLst/>
              <a:ahLst/>
              <a:cxnLst/>
              <a:rect l="l" t="t" r="r" b="b"/>
              <a:pathLst>
                <a:path w="459012" h="459012">
                  <a:moveTo>
                    <a:pt x="48864" y="0"/>
                  </a:moveTo>
                  <a:lnTo>
                    <a:pt x="410148" y="0"/>
                  </a:lnTo>
                  <a:cubicBezTo>
                    <a:pt x="423108" y="0"/>
                    <a:pt x="435536" y="5148"/>
                    <a:pt x="444700" y="14312"/>
                  </a:cubicBezTo>
                  <a:cubicBezTo>
                    <a:pt x="453864" y="23476"/>
                    <a:pt x="459012" y="35905"/>
                    <a:pt x="459012" y="48864"/>
                  </a:cubicBezTo>
                  <a:lnTo>
                    <a:pt x="459012" y="410148"/>
                  </a:lnTo>
                  <a:cubicBezTo>
                    <a:pt x="459012" y="437135"/>
                    <a:pt x="437135" y="459012"/>
                    <a:pt x="410148" y="459012"/>
                  </a:cubicBezTo>
                  <a:lnTo>
                    <a:pt x="48864" y="459012"/>
                  </a:lnTo>
                  <a:cubicBezTo>
                    <a:pt x="21877" y="459012"/>
                    <a:pt x="0" y="437135"/>
                    <a:pt x="0" y="410148"/>
                  </a:cubicBezTo>
                  <a:lnTo>
                    <a:pt x="0" y="48864"/>
                  </a:lnTo>
                  <a:cubicBezTo>
                    <a:pt x="0" y="21877"/>
                    <a:pt x="21877" y="0"/>
                    <a:pt x="48864" y="0"/>
                  </a:cubicBezTo>
                  <a:close/>
                </a:path>
              </a:pathLst>
            </a:custGeom>
            <a:solidFill>
              <a:srgbClr val="D73125"/>
            </a:solidFill>
          </p:spPr>
          <p:txBody>
            <a:bodyPr/>
            <a:lstStyle/>
            <a:p>
              <a:endParaRPr lang="en-IN"/>
            </a:p>
          </p:txBody>
        </p:sp>
        <p:sp>
          <p:nvSpPr>
            <p:cNvPr id="24" name="TextBox 24"/>
            <p:cNvSpPr txBox="1"/>
            <p:nvPr/>
          </p:nvSpPr>
          <p:spPr>
            <a:xfrm>
              <a:off x="0" y="-66675"/>
              <a:ext cx="459012" cy="525687"/>
            </a:xfrm>
            <a:prstGeom prst="rect">
              <a:avLst/>
            </a:prstGeom>
          </p:spPr>
          <p:txBody>
            <a:bodyPr lIns="50800" tIns="50800" rIns="50800" bIns="50800" rtlCol="0" anchor="ctr"/>
            <a:lstStyle/>
            <a:p>
              <a:pPr marL="0" lvl="0" indent="0" algn="ctr">
                <a:lnSpc>
                  <a:spcPts val="2800"/>
                </a:lnSpc>
              </a:pPr>
              <a:endParaRPr/>
            </a:p>
          </p:txBody>
        </p:sp>
      </p:grpSp>
      <p:sp>
        <p:nvSpPr>
          <p:cNvPr id="25" name="Freeform 25"/>
          <p:cNvSpPr/>
          <p:nvPr/>
        </p:nvSpPr>
        <p:spPr>
          <a:xfrm>
            <a:off x="2265397" y="5983452"/>
            <a:ext cx="954912" cy="710107"/>
          </a:xfrm>
          <a:custGeom>
            <a:avLst/>
            <a:gdLst/>
            <a:ahLst/>
            <a:cxnLst/>
            <a:rect l="l" t="t" r="r" b="b"/>
            <a:pathLst>
              <a:path w="954912" h="710107">
                <a:moveTo>
                  <a:pt x="0" y="0"/>
                </a:moveTo>
                <a:lnTo>
                  <a:pt x="954912" y="0"/>
                </a:lnTo>
                <a:lnTo>
                  <a:pt x="954912" y="710108"/>
                </a:lnTo>
                <a:lnTo>
                  <a:pt x="0" y="71010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6" name="Freeform 26"/>
          <p:cNvSpPr/>
          <p:nvPr/>
        </p:nvSpPr>
        <p:spPr>
          <a:xfrm>
            <a:off x="5330660" y="6045141"/>
            <a:ext cx="1225534" cy="648419"/>
          </a:xfrm>
          <a:custGeom>
            <a:avLst/>
            <a:gdLst/>
            <a:ahLst/>
            <a:cxnLst/>
            <a:rect l="l" t="t" r="r" b="b"/>
            <a:pathLst>
              <a:path w="1225534" h="648419">
                <a:moveTo>
                  <a:pt x="0" y="0"/>
                </a:moveTo>
                <a:lnTo>
                  <a:pt x="1225533" y="0"/>
                </a:lnTo>
                <a:lnTo>
                  <a:pt x="1225533" y="648419"/>
                </a:lnTo>
                <a:lnTo>
                  <a:pt x="0" y="6484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7" name="Freeform 27"/>
          <p:cNvSpPr/>
          <p:nvPr/>
        </p:nvSpPr>
        <p:spPr>
          <a:xfrm>
            <a:off x="8611452" y="5805959"/>
            <a:ext cx="1065095" cy="1065095"/>
          </a:xfrm>
          <a:custGeom>
            <a:avLst/>
            <a:gdLst/>
            <a:ahLst/>
            <a:cxnLst/>
            <a:rect l="l" t="t" r="r" b="b"/>
            <a:pathLst>
              <a:path w="1065095" h="1065095">
                <a:moveTo>
                  <a:pt x="0" y="0"/>
                </a:moveTo>
                <a:lnTo>
                  <a:pt x="1065096" y="0"/>
                </a:lnTo>
                <a:lnTo>
                  <a:pt x="1065096" y="1065095"/>
                </a:lnTo>
                <a:lnTo>
                  <a:pt x="0" y="106509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28" name="Freeform 28"/>
          <p:cNvSpPr/>
          <p:nvPr/>
        </p:nvSpPr>
        <p:spPr>
          <a:xfrm>
            <a:off x="11545908" y="5838792"/>
            <a:ext cx="1101158" cy="1061116"/>
          </a:xfrm>
          <a:custGeom>
            <a:avLst/>
            <a:gdLst/>
            <a:ahLst/>
            <a:cxnLst/>
            <a:rect l="l" t="t" r="r" b="b"/>
            <a:pathLst>
              <a:path w="1101158" h="1061116">
                <a:moveTo>
                  <a:pt x="0" y="0"/>
                </a:moveTo>
                <a:lnTo>
                  <a:pt x="1101159" y="0"/>
                </a:lnTo>
                <a:lnTo>
                  <a:pt x="1101159" y="1061117"/>
                </a:lnTo>
                <a:lnTo>
                  <a:pt x="0" y="106111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IN"/>
          </a:p>
        </p:txBody>
      </p:sp>
      <p:sp>
        <p:nvSpPr>
          <p:cNvPr id="29" name="Freeform 29"/>
          <p:cNvSpPr/>
          <p:nvPr/>
        </p:nvSpPr>
        <p:spPr>
          <a:xfrm>
            <a:off x="14868242" y="5750351"/>
            <a:ext cx="857637" cy="1176310"/>
          </a:xfrm>
          <a:custGeom>
            <a:avLst/>
            <a:gdLst/>
            <a:ahLst/>
            <a:cxnLst/>
            <a:rect l="l" t="t" r="r" b="b"/>
            <a:pathLst>
              <a:path w="857637" h="1176310">
                <a:moveTo>
                  <a:pt x="0" y="0"/>
                </a:moveTo>
                <a:lnTo>
                  <a:pt x="857637" y="0"/>
                </a:lnTo>
                <a:lnTo>
                  <a:pt x="857637" y="1176310"/>
                </a:lnTo>
                <a:lnTo>
                  <a:pt x="0" y="117631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IN" dirty="0"/>
          </a:p>
        </p:txBody>
      </p:sp>
      <p:sp>
        <p:nvSpPr>
          <p:cNvPr id="30" name="TextBox 30"/>
          <p:cNvSpPr txBox="1"/>
          <p:nvPr/>
        </p:nvSpPr>
        <p:spPr>
          <a:xfrm>
            <a:off x="2211970" y="2003953"/>
            <a:ext cx="13864059" cy="870714"/>
          </a:xfrm>
          <a:prstGeom prst="rect">
            <a:avLst/>
          </a:prstGeom>
        </p:spPr>
        <p:txBody>
          <a:bodyPr lIns="0" tIns="0" rIns="0" bIns="0" rtlCol="0" anchor="t">
            <a:spAutoFit/>
          </a:bodyPr>
          <a:lstStyle/>
          <a:p>
            <a:pPr marL="0" lvl="0" indent="0" algn="ctr">
              <a:lnSpc>
                <a:spcPts val="5943"/>
              </a:lnSpc>
            </a:pPr>
            <a:r>
              <a:rPr lang="en-US" sz="6603" b="1">
                <a:solidFill>
                  <a:srgbClr val="100302"/>
                </a:solidFill>
                <a:latin typeface="Poppins Semi-Bold"/>
                <a:ea typeface="Poppins Semi-Bold"/>
                <a:cs typeface="Poppins Semi-Bold"/>
                <a:sym typeface="Poppins Semi-Bold"/>
              </a:rPr>
              <a:t>Project Objectives</a:t>
            </a:r>
          </a:p>
        </p:txBody>
      </p:sp>
      <p:sp>
        <p:nvSpPr>
          <p:cNvPr id="32" name="TextBox 32"/>
          <p:cNvSpPr txBox="1"/>
          <p:nvPr/>
        </p:nvSpPr>
        <p:spPr>
          <a:xfrm>
            <a:off x="2063907" y="3529864"/>
            <a:ext cx="14012122" cy="929019"/>
          </a:xfrm>
          <a:prstGeom prst="rect">
            <a:avLst/>
          </a:prstGeom>
        </p:spPr>
        <p:txBody>
          <a:bodyPr lIns="0" tIns="0" rIns="0" bIns="0" rtlCol="0" anchor="t">
            <a:spAutoFit/>
          </a:bodyPr>
          <a:lstStyle/>
          <a:p>
            <a:pPr marL="0" lvl="0" indent="0" algn="ctr">
              <a:lnSpc>
                <a:spcPts val="2403"/>
              </a:lnSpc>
            </a:pPr>
            <a:r>
              <a:rPr lang="en-US" sz="1848" spc="27">
                <a:solidFill>
                  <a:srgbClr val="100302"/>
                </a:solidFill>
                <a:latin typeface="Poppins"/>
                <a:ea typeface="Poppins"/>
                <a:cs typeface="Poppins"/>
                <a:sym typeface="Poppins"/>
              </a:rPr>
              <a:t>The Zomato Restaurant Analytics Dashboard aims to deliver actionable insights from restaurant data, enabling data-driven decisions. The following core objectives guide the development and implementation of this analytics solution.</a:t>
            </a:r>
          </a:p>
        </p:txBody>
      </p:sp>
      <p:sp>
        <p:nvSpPr>
          <p:cNvPr id="33" name="TextBox 33"/>
          <p:cNvSpPr txBox="1"/>
          <p:nvPr/>
        </p:nvSpPr>
        <p:spPr>
          <a:xfrm>
            <a:off x="1467032" y="7413243"/>
            <a:ext cx="2551642" cy="679132"/>
          </a:xfrm>
          <a:prstGeom prst="rect">
            <a:avLst/>
          </a:prstGeom>
        </p:spPr>
        <p:txBody>
          <a:bodyPr lIns="0" tIns="0" rIns="0" bIns="0" rtlCol="0" anchor="t">
            <a:spAutoFit/>
          </a:bodyPr>
          <a:lstStyle/>
          <a:p>
            <a:pPr marL="0" lvl="0" indent="0" algn="ctr">
              <a:lnSpc>
                <a:spcPts val="2632"/>
              </a:lnSpc>
            </a:pPr>
            <a:r>
              <a:rPr lang="en-US" sz="2025" b="1" spc="30">
                <a:solidFill>
                  <a:srgbClr val="100302"/>
                </a:solidFill>
                <a:latin typeface="Poppins Medium"/>
                <a:ea typeface="Poppins Medium"/>
                <a:cs typeface="Poppins Medium"/>
                <a:sym typeface="Poppins Medium"/>
              </a:rPr>
              <a:t>Data Cleaning &amp; Preparation</a:t>
            </a:r>
          </a:p>
        </p:txBody>
      </p:sp>
      <p:sp>
        <p:nvSpPr>
          <p:cNvPr id="34" name="TextBox 34"/>
          <p:cNvSpPr txBox="1"/>
          <p:nvPr/>
        </p:nvSpPr>
        <p:spPr>
          <a:xfrm>
            <a:off x="4667605" y="7413243"/>
            <a:ext cx="2551642" cy="679132"/>
          </a:xfrm>
          <a:prstGeom prst="rect">
            <a:avLst/>
          </a:prstGeom>
        </p:spPr>
        <p:txBody>
          <a:bodyPr lIns="0" tIns="0" rIns="0" bIns="0" rtlCol="0" anchor="t">
            <a:spAutoFit/>
          </a:bodyPr>
          <a:lstStyle/>
          <a:p>
            <a:pPr marL="0" lvl="0" indent="0" algn="ctr">
              <a:lnSpc>
                <a:spcPts val="2632"/>
              </a:lnSpc>
            </a:pPr>
            <a:r>
              <a:rPr lang="en-US" sz="2025" b="1" spc="30">
                <a:solidFill>
                  <a:srgbClr val="100302"/>
                </a:solidFill>
                <a:latin typeface="Poppins Medium"/>
                <a:ea typeface="Poppins Medium"/>
                <a:cs typeface="Poppins Medium"/>
                <a:sym typeface="Poppins Medium"/>
              </a:rPr>
              <a:t>Performance Analysis</a:t>
            </a:r>
          </a:p>
        </p:txBody>
      </p:sp>
      <p:sp>
        <p:nvSpPr>
          <p:cNvPr id="35" name="TextBox 35"/>
          <p:cNvSpPr txBox="1"/>
          <p:nvPr/>
        </p:nvSpPr>
        <p:spPr>
          <a:xfrm>
            <a:off x="7639579" y="7413243"/>
            <a:ext cx="3008842" cy="679132"/>
          </a:xfrm>
          <a:prstGeom prst="rect">
            <a:avLst/>
          </a:prstGeom>
        </p:spPr>
        <p:txBody>
          <a:bodyPr lIns="0" tIns="0" rIns="0" bIns="0" rtlCol="0" anchor="t">
            <a:spAutoFit/>
          </a:bodyPr>
          <a:lstStyle/>
          <a:p>
            <a:pPr marL="0" lvl="0" indent="0" algn="ctr">
              <a:lnSpc>
                <a:spcPts val="2632"/>
              </a:lnSpc>
            </a:pPr>
            <a:r>
              <a:rPr lang="en-US" sz="2025" b="1" spc="30" dirty="0">
                <a:solidFill>
                  <a:srgbClr val="100302"/>
                </a:solidFill>
                <a:latin typeface="Poppins Medium"/>
                <a:ea typeface="Poppins Medium"/>
                <a:cs typeface="Poppins Medium"/>
                <a:sym typeface="Poppins Medium"/>
              </a:rPr>
              <a:t>Interactive Dashboard Design</a:t>
            </a:r>
          </a:p>
        </p:txBody>
      </p:sp>
      <p:sp>
        <p:nvSpPr>
          <p:cNvPr id="36" name="TextBox 36"/>
          <p:cNvSpPr txBox="1"/>
          <p:nvPr/>
        </p:nvSpPr>
        <p:spPr>
          <a:xfrm>
            <a:off x="10820666" y="7413243"/>
            <a:ext cx="2551642" cy="679132"/>
          </a:xfrm>
          <a:prstGeom prst="rect">
            <a:avLst/>
          </a:prstGeom>
        </p:spPr>
        <p:txBody>
          <a:bodyPr lIns="0" tIns="0" rIns="0" bIns="0" rtlCol="0" anchor="t">
            <a:spAutoFit/>
          </a:bodyPr>
          <a:lstStyle/>
          <a:p>
            <a:pPr marL="0" lvl="0" indent="0" algn="ctr">
              <a:lnSpc>
                <a:spcPts val="2632"/>
              </a:lnSpc>
            </a:pPr>
            <a:r>
              <a:rPr lang="en-US" sz="2025" b="1" spc="30">
                <a:solidFill>
                  <a:srgbClr val="100302"/>
                </a:solidFill>
                <a:latin typeface="Poppins Medium"/>
                <a:ea typeface="Poppins Medium"/>
                <a:cs typeface="Poppins Medium"/>
                <a:sym typeface="Poppins Medium"/>
              </a:rPr>
              <a:t>Trend &amp; Insight Discovery</a:t>
            </a:r>
          </a:p>
        </p:txBody>
      </p:sp>
      <p:sp>
        <p:nvSpPr>
          <p:cNvPr id="37" name="TextBox 37"/>
          <p:cNvSpPr txBox="1"/>
          <p:nvPr/>
        </p:nvSpPr>
        <p:spPr>
          <a:xfrm>
            <a:off x="14021240" y="7413243"/>
            <a:ext cx="2551642" cy="679132"/>
          </a:xfrm>
          <a:prstGeom prst="rect">
            <a:avLst/>
          </a:prstGeom>
        </p:spPr>
        <p:txBody>
          <a:bodyPr lIns="0" tIns="0" rIns="0" bIns="0" rtlCol="0" anchor="t">
            <a:spAutoFit/>
          </a:bodyPr>
          <a:lstStyle/>
          <a:p>
            <a:pPr marL="0" lvl="0" indent="0" algn="ctr">
              <a:lnSpc>
                <a:spcPts val="2632"/>
              </a:lnSpc>
            </a:pPr>
            <a:r>
              <a:rPr lang="en-US" sz="2025" b="1" spc="30" dirty="0">
                <a:solidFill>
                  <a:srgbClr val="100302"/>
                </a:solidFill>
                <a:latin typeface="Poppins Medium"/>
                <a:ea typeface="Poppins Medium"/>
                <a:cs typeface="Poppins Medium"/>
                <a:sym typeface="Poppins Medium"/>
              </a:rPr>
              <a:t>Actionable Recommendations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10800000" flipH="1" flipV="1">
            <a:off x="-4776038" y="1265598"/>
            <a:ext cx="9089382" cy="9089382"/>
          </a:xfrm>
          <a:custGeom>
            <a:avLst/>
            <a:gdLst/>
            <a:ahLst/>
            <a:cxnLst/>
            <a:rect l="l" t="t" r="r" b="b"/>
            <a:pathLst>
              <a:path w="9089382" h="9089382">
                <a:moveTo>
                  <a:pt x="9089382" y="9089383"/>
                </a:moveTo>
                <a:lnTo>
                  <a:pt x="0" y="9089383"/>
                </a:lnTo>
                <a:lnTo>
                  <a:pt x="0" y="0"/>
                </a:lnTo>
                <a:lnTo>
                  <a:pt x="9089382" y="0"/>
                </a:lnTo>
                <a:lnTo>
                  <a:pt x="9089382"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662904" y="799624"/>
            <a:ext cx="506110" cy="597340"/>
          </a:xfrm>
          <a:custGeom>
            <a:avLst/>
            <a:gdLst/>
            <a:ahLst/>
            <a:cxnLst/>
            <a:rect l="l" t="t" r="r" b="b"/>
            <a:pathLst>
              <a:path w="506110" h="597340">
                <a:moveTo>
                  <a:pt x="0" y="0"/>
                </a:moveTo>
                <a:lnTo>
                  <a:pt x="506110" y="0"/>
                </a:lnTo>
                <a:lnTo>
                  <a:pt x="506110" y="597341"/>
                </a:lnTo>
                <a:lnTo>
                  <a:pt x="0" y="59734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AutoShape 5"/>
          <p:cNvSpPr/>
          <p:nvPr/>
        </p:nvSpPr>
        <p:spPr>
          <a:xfrm>
            <a:off x="1662904" y="3200299"/>
            <a:ext cx="57368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p:cNvSpPr/>
          <p:nvPr/>
        </p:nvSpPr>
        <p:spPr>
          <a:xfrm rot="-10800000">
            <a:off x="9407617" y="-2634475"/>
            <a:ext cx="9089382" cy="9089382"/>
          </a:xfrm>
          <a:custGeom>
            <a:avLst/>
            <a:gdLst/>
            <a:ahLst/>
            <a:cxnLst/>
            <a:rect l="l" t="t" r="r" b="b"/>
            <a:pathLst>
              <a:path w="9089382" h="9089382">
                <a:moveTo>
                  <a:pt x="0" y="0"/>
                </a:moveTo>
                <a:lnTo>
                  <a:pt x="9089383" y="0"/>
                </a:lnTo>
                <a:lnTo>
                  <a:pt x="9089383"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1" name="TextBox 21"/>
          <p:cNvSpPr txBox="1"/>
          <p:nvPr/>
        </p:nvSpPr>
        <p:spPr>
          <a:xfrm>
            <a:off x="1662904" y="1925418"/>
            <a:ext cx="9871179" cy="854769"/>
          </a:xfrm>
          <a:prstGeom prst="rect">
            <a:avLst/>
          </a:prstGeom>
        </p:spPr>
        <p:txBody>
          <a:bodyPr lIns="0" tIns="0" rIns="0" bIns="0" rtlCol="0" anchor="t">
            <a:spAutoFit/>
          </a:bodyPr>
          <a:lstStyle/>
          <a:p>
            <a:pPr marL="0" lvl="0" indent="0" algn="just">
              <a:lnSpc>
                <a:spcPts val="5791"/>
              </a:lnSpc>
            </a:pPr>
            <a:r>
              <a:rPr lang="en-US" sz="6434" b="1">
                <a:solidFill>
                  <a:srgbClr val="FFFFFF"/>
                </a:solidFill>
                <a:latin typeface="Poppins Semi-Bold"/>
                <a:ea typeface="Poppins Semi-Bold"/>
                <a:cs typeface="Poppins Semi-Bold"/>
                <a:sym typeface="Poppins Semi-Bold"/>
              </a:rPr>
              <a:t>Data Collection Process</a:t>
            </a:r>
          </a:p>
        </p:txBody>
      </p:sp>
      <p:sp>
        <p:nvSpPr>
          <p:cNvPr id="22" name="TextBox 22"/>
          <p:cNvSpPr txBox="1"/>
          <p:nvPr/>
        </p:nvSpPr>
        <p:spPr>
          <a:xfrm>
            <a:off x="2410514" y="864316"/>
            <a:ext cx="3805659" cy="376002"/>
          </a:xfrm>
          <a:prstGeom prst="rect">
            <a:avLst/>
          </a:prstGeom>
        </p:spPr>
        <p:txBody>
          <a:bodyPr lIns="0" tIns="0" rIns="0" bIns="0" rtlCol="0" anchor="t">
            <a:spAutoFit/>
          </a:bodyPr>
          <a:lstStyle/>
          <a:p>
            <a:pPr marL="0" lvl="0" indent="0" algn="just">
              <a:lnSpc>
                <a:spcPts val="2900"/>
              </a:lnSpc>
            </a:pPr>
            <a:r>
              <a:rPr lang="en-US" sz="2071">
                <a:solidFill>
                  <a:srgbClr val="FFFFFF"/>
                </a:solidFill>
                <a:latin typeface="Poppins"/>
                <a:ea typeface="Poppins"/>
                <a:cs typeface="Poppins"/>
                <a:sym typeface="Poppins"/>
              </a:rPr>
              <a:t>Zomato Restaurant Analytics</a:t>
            </a:r>
          </a:p>
        </p:txBody>
      </p:sp>
      <p:sp>
        <p:nvSpPr>
          <p:cNvPr id="27" name="TextBox 27"/>
          <p:cNvSpPr txBox="1"/>
          <p:nvPr/>
        </p:nvSpPr>
        <p:spPr>
          <a:xfrm>
            <a:off x="1662904" y="3794245"/>
            <a:ext cx="7352426" cy="1911292"/>
          </a:xfrm>
          <a:prstGeom prst="rect">
            <a:avLst/>
          </a:prstGeom>
        </p:spPr>
        <p:txBody>
          <a:bodyPr lIns="0" tIns="0" rIns="0" bIns="0" rtlCol="0" anchor="t">
            <a:spAutoFit/>
          </a:bodyPr>
          <a:lstStyle/>
          <a:p>
            <a:pPr marL="0" lvl="0" indent="0" algn="l">
              <a:lnSpc>
                <a:spcPts val="2456"/>
              </a:lnSpc>
            </a:pPr>
            <a:r>
              <a:rPr lang="en-US" sz="1889" spc="28" dirty="0">
                <a:solidFill>
                  <a:srgbClr val="FFFFFF"/>
                </a:solidFill>
                <a:latin typeface="Poppins"/>
                <a:ea typeface="Poppins"/>
                <a:cs typeface="Poppins"/>
                <a:sym typeface="Poppins"/>
              </a:rPr>
              <a:t>The Zomato dataset was containing over 9,500 restaurant records across multiple cities. The raw CSV files include attributes such as restaurant name, location, cuisine type, average cost, ratings, votes, and online delivery status. Data was downloaded and validated for completeness before being staged for further processing.</a:t>
            </a:r>
          </a:p>
        </p:txBody>
      </p:sp>
      <p:sp>
        <p:nvSpPr>
          <p:cNvPr id="28" name="TextBox 28"/>
          <p:cNvSpPr txBox="1"/>
          <p:nvPr/>
        </p:nvSpPr>
        <p:spPr>
          <a:xfrm>
            <a:off x="1662904" y="6831868"/>
            <a:ext cx="7352426" cy="1538101"/>
          </a:xfrm>
          <a:prstGeom prst="rect">
            <a:avLst/>
          </a:prstGeom>
        </p:spPr>
        <p:txBody>
          <a:bodyPr lIns="0" tIns="0" rIns="0" bIns="0" rtlCol="0" anchor="t">
            <a:spAutoFit/>
          </a:bodyPr>
          <a:lstStyle/>
          <a:p>
            <a:pPr marL="0" lvl="0" indent="0" algn="l">
              <a:lnSpc>
                <a:spcPts val="2456"/>
              </a:lnSpc>
            </a:pPr>
            <a:r>
              <a:rPr lang="en-US" sz="1889" spc="28">
                <a:solidFill>
                  <a:srgbClr val="FFFFFF"/>
                </a:solidFill>
                <a:latin typeface="Poppins"/>
                <a:ea typeface="Poppins"/>
                <a:cs typeface="Poppins"/>
                <a:sym typeface="Poppins"/>
              </a:rPr>
              <a:t>Cleaned data was imported into SQL Server for structured querying and transformation. Excel was used for preliminary exploration and formatting. Final datasets were connected to Power BI and Tableau via direct file imports and SQL queries to build interactive analytics dashboards.</a:t>
            </a:r>
          </a:p>
        </p:txBody>
      </p:sp>
      <p:sp>
        <p:nvSpPr>
          <p:cNvPr id="31" name="Freeform 31"/>
          <p:cNvSpPr/>
          <p:nvPr/>
        </p:nvSpPr>
        <p:spPr>
          <a:xfrm>
            <a:off x="8517102" y="9167040"/>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2" name="Freeform 32"/>
          <p:cNvSpPr/>
          <p:nvPr/>
        </p:nvSpPr>
        <p:spPr>
          <a:xfrm>
            <a:off x="-626898" y="464704"/>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3" name="Freeform 33"/>
          <p:cNvSpPr/>
          <p:nvPr/>
        </p:nvSpPr>
        <p:spPr>
          <a:xfrm>
            <a:off x="11969490" y="2202939"/>
            <a:ext cx="1081704" cy="845696"/>
          </a:xfrm>
          <a:custGeom>
            <a:avLst/>
            <a:gdLst/>
            <a:ahLst/>
            <a:cxnLst/>
            <a:rect l="l" t="t" r="r" b="b"/>
            <a:pathLst>
              <a:path w="1081704" h="845696">
                <a:moveTo>
                  <a:pt x="0" y="0"/>
                </a:moveTo>
                <a:lnTo>
                  <a:pt x="1081704" y="0"/>
                </a:lnTo>
                <a:lnTo>
                  <a:pt x="1081704" y="845696"/>
                </a:lnTo>
                <a:lnTo>
                  <a:pt x="0" y="8456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10800000" flipH="1" flipV="1">
            <a:off x="-4062512" y="15605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p:cNvSpPr/>
          <p:nvPr/>
        </p:nvSpPr>
        <p:spPr>
          <a:xfrm>
            <a:off x="4980199" y="3200299"/>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16540193" y="546646"/>
            <a:ext cx="1603617" cy="1253737"/>
          </a:xfrm>
          <a:custGeom>
            <a:avLst/>
            <a:gdLst/>
            <a:ahLst/>
            <a:cxnLst/>
            <a:rect l="l" t="t" r="r" b="b"/>
            <a:pathLst>
              <a:path w="1603617" h="1253737">
                <a:moveTo>
                  <a:pt x="0" y="0"/>
                </a:moveTo>
                <a:lnTo>
                  <a:pt x="1603616" y="0"/>
                </a:lnTo>
                <a:lnTo>
                  <a:pt x="1603616" y="1253737"/>
                </a:lnTo>
                <a:lnTo>
                  <a:pt x="0" y="1253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p:cNvSpPr txBox="1"/>
          <p:nvPr/>
        </p:nvSpPr>
        <p:spPr>
          <a:xfrm>
            <a:off x="2197683" y="1593907"/>
            <a:ext cx="13575717" cy="1481688"/>
          </a:xfrm>
          <a:prstGeom prst="rect">
            <a:avLst/>
          </a:prstGeom>
        </p:spPr>
        <p:txBody>
          <a:bodyPr wrap="square" lIns="0" tIns="0" rIns="0" bIns="0" rtlCol="0" anchor="t">
            <a:spAutoFit/>
          </a:bodyPr>
          <a:lstStyle/>
          <a:p>
            <a:pPr lvl="0" algn="ctr">
              <a:lnSpc>
                <a:spcPts val="6003"/>
              </a:lnSpc>
            </a:pPr>
            <a:r>
              <a:rPr lang="en-US" sz="7200" dirty="0">
                <a:latin typeface="Arial Black" panose="020B0A04020102020204" pitchFamily="34" charset="0"/>
              </a:rPr>
              <a:t> </a:t>
            </a:r>
            <a:r>
              <a:rPr lang="en-US" sz="4800" dirty="0">
                <a:latin typeface="Arial Black" panose="020B0A04020102020204" pitchFamily="34" charset="0"/>
              </a:rPr>
              <a:t>Analysis 1 – </a:t>
            </a:r>
            <a:r>
              <a:rPr lang="en-US" sz="4000" dirty="0">
                <a:latin typeface="Arial Black" panose="020B0A04020102020204" pitchFamily="34" charset="0"/>
              </a:rPr>
              <a:t>Number Of Restaurants In Countries</a:t>
            </a:r>
          </a:p>
        </p:txBody>
      </p:sp>
      <p:sp>
        <p:nvSpPr>
          <p:cNvPr id="18" name="TextBox 18"/>
          <p:cNvSpPr txBox="1"/>
          <p:nvPr/>
        </p:nvSpPr>
        <p:spPr>
          <a:xfrm>
            <a:off x="1837394" y="3972175"/>
            <a:ext cx="6475412" cy="352425"/>
          </a:xfrm>
          <a:prstGeom prst="rect">
            <a:avLst/>
          </a:prstGeom>
        </p:spPr>
        <p:txBody>
          <a:bodyPr lIns="0" tIns="0" rIns="0" bIns="0" rtlCol="0" anchor="t">
            <a:spAutoFit/>
          </a:bodyPr>
          <a:lstStyle/>
          <a:p>
            <a:pPr marL="0" lvl="0" indent="0" algn="ctr">
              <a:lnSpc>
                <a:spcPts val="2668"/>
              </a:lnSpc>
            </a:pPr>
            <a:r>
              <a:rPr lang="en-US" sz="2223" b="1" spc="33">
                <a:solidFill>
                  <a:srgbClr val="FFFFFF"/>
                </a:solidFill>
                <a:latin typeface="Poppins Medium"/>
                <a:ea typeface="Poppins Medium"/>
                <a:cs typeface="Poppins Medium"/>
                <a:sym typeface="Poppins Medium"/>
              </a:rPr>
              <a:t>What's Included</a:t>
            </a:r>
          </a:p>
        </p:txBody>
      </p:sp>
      <p:pic>
        <p:nvPicPr>
          <p:cNvPr id="28" name="Picture 27">
            <a:extLst>
              <a:ext uri="{FF2B5EF4-FFF2-40B4-BE49-F238E27FC236}">
                <a16:creationId xmlns:a16="http://schemas.microsoft.com/office/drawing/2014/main" id="{61612E71-FD79-6519-F6B7-95AFC2BB59C5}"/>
              </a:ext>
            </a:extLst>
          </p:cNvPr>
          <p:cNvPicPr>
            <a:picLocks noChangeAspect="1"/>
          </p:cNvPicPr>
          <p:nvPr/>
        </p:nvPicPr>
        <p:blipFill>
          <a:blip r:embed="rId5"/>
          <a:srcRect l="1588" t="5502" r="1706" b="4725"/>
          <a:stretch>
            <a:fillRect/>
          </a:stretch>
        </p:blipFill>
        <p:spPr>
          <a:xfrm>
            <a:off x="1676399" y="3816844"/>
            <a:ext cx="5968335" cy="3269855"/>
          </a:xfrm>
          <a:prstGeom prst="rect">
            <a:avLst/>
          </a:prstGeom>
        </p:spPr>
      </p:pic>
      <p:sp>
        <p:nvSpPr>
          <p:cNvPr id="30" name="TextBox 29">
            <a:extLst>
              <a:ext uri="{FF2B5EF4-FFF2-40B4-BE49-F238E27FC236}">
                <a16:creationId xmlns:a16="http://schemas.microsoft.com/office/drawing/2014/main" id="{B2AAAB56-60C7-318C-0EC0-2E8F03E1D286}"/>
              </a:ext>
            </a:extLst>
          </p:cNvPr>
          <p:cNvSpPr txBox="1"/>
          <p:nvPr/>
        </p:nvSpPr>
        <p:spPr>
          <a:xfrm>
            <a:off x="9590534" y="3695705"/>
            <a:ext cx="4430266" cy="4401205"/>
          </a:xfrm>
          <a:prstGeom prst="rect">
            <a:avLst/>
          </a:prstGeom>
          <a:noFill/>
        </p:spPr>
        <p:txBody>
          <a:bodyPr wrap="square">
            <a:spAutoFit/>
          </a:bodyPr>
          <a:lstStyle/>
          <a:p>
            <a:pPr marL="285750" indent="-285750">
              <a:buFont typeface="Wingdings" panose="05000000000000000000" pitchFamily="2" charset="2"/>
              <a:buChar char="Ø"/>
            </a:pPr>
            <a:r>
              <a:rPr lang="en-IN" sz="2000" dirty="0"/>
              <a:t>India has the highest number of restaurants (</a:t>
            </a:r>
            <a:r>
              <a:rPr lang="en-IN" sz="2000" b="1" dirty="0"/>
              <a:t>8,652</a:t>
            </a:r>
            <a:r>
              <a:rPr lang="en-IN" sz="2000" dirty="0"/>
              <a:t>), dominating the dataset.</a:t>
            </a:r>
          </a:p>
          <a:p>
            <a:pPr marL="285750" indent="-285750">
              <a:buFont typeface="Wingdings" panose="05000000000000000000" pitchFamily="2" charset="2"/>
              <a:buChar char="Ø"/>
            </a:pPr>
            <a:r>
              <a:rPr lang="en-IN" sz="2000" dirty="0"/>
              <a:t> The United States is second with </a:t>
            </a:r>
            <a:r>
              <a:rPr lang="en-IN" sz="2000" b="1" dirty="0"/>
              <a:t>434</a:t>
            </a:r>
            <a:r>
              <a:rPr lang="en-IN" sz="2000" dirty="0"/>
              <a:t> restaurants.</a:t>
            </a:r>
          </a:p>
          <a:p>
            <a:pPr marL="285750" indent="-285750">
              <a:buFont typeface="Wingdings" panose="05000000000000000000" pitchFamily="2" charset="2"/>
              <a:buChar char="Ø"/>
            </a:pPr>
            <a:r>
              <a:rPr lang="en-IN" sz="2000" dirty="0"/>
              <a:t> The United Kingdom has </a:t>
            </a:r>
            <a:r>
              <a:rPr lang="en-IN" sz="2000" b="1" dirty="0"/>
              <a:t>80</a:t>
            </a:r>
            <a:r>
              <a:rPr lang="en-IN" sz="2000" dirty="0"/>
              <a:t> restaurants.</a:t>
            </a:r>
          </a:p>
          <a:p>
            <a:pPr marL="285750" indent="-285750">
              <a:buFont typeface="Wingdings" panose="05000000000000000000" pitchFamily="2" charset="2"/>
              <a:buChar char="Ø"/>
            </a:pPr>
            <a:r>
              <a:rPr lang="en-IN" sz="2000" dirty="0"/>
              <a:t> Most other countries have </a:t>
            </a:r>
            <a:r>
              <a:rPr lang="en-IN" sz="2000" b="1" dirty="0"/>
              <a:t>less than 100</a:t>
            </a:r>
            <a:r>
              <a:rPr lang="en-IN" sz="2000" dirty="0"/>
              <a:t> restaurants each.</a:t>
            </a:r>
          </a:p>
          <a:p>
            <a:pPr marL="285750" indent="-285750">
              <a:buFont typeface="Wingdings" panose="05000000000000000000" pitchFamily="2" charset="2"/>
              <a:buChar char="Ø"/>
            </a:pPr>
            <a:r>
              <a:rPr lang="en-IN" sz="2000" dirty="0"/>
              <a:t> Canada has the lowest number of restaurants (</a:t>
            </a:r>
            <a:r>
              <a:rPr lang="en-IN" sz="2000" b="1" dirty="0"/>
              <a:t>4</a:t>
            </a:r>
            <a:r>
              <a:rPr lang="en-IN" sz="2000" dirty="0"/>
              <a:t>).</a:t>
            </a:r>
          </a:p>
          <a:p>
            <a:pPr marL="285750" indent="-285750">
              <a:buFont typeface="Wingdings" panose="05000000000000000000" pitchFamily="2" charset="2"/>
              <a:buChar char="Ø"/>
            </a:pPr>
            <a:r>
              <a:rPr lang="en-IN" sz="2000" dirty="0"/>
              <a:t> The dataset is highly concentrated in </a:t>
            </a:r>
            <a:r>
              <a:rPr lang="en-IN" sz="2000" b="1" dirty="0"/>
              <a:t>India</a:t>
            </a:r>
            <a:r>
              <a:rPr lang="en-IN" sz="2000" dirty="0"/>
              <a:t>, showing Zomato's strongest presence there.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5B94F-20B7-6984-81C0-1547E823217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07813880-FA6B-4498-D9C6-2E06E86B8833}"/>
              </a:ext>
            </a:extLst>
          </p:cNvPr>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0271CD03-BE32-B524-252D-8575F181C4F4}"/>
              </a:ext>
            </a:extLst>
          </p:cNvPr>
          <p:cNvSpPr/>
          <p:nvPr/>
        </p:nvSpPr>
        <p:spPr>
          <a:xfrm rot="-10800000" flipH="1" flipV="1">
            <a:off x="-4062512" y="15605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a:extLst>
              <a:ext uri="{FF2B5EF4-FFF2-40B4-BE49-F238E27FC236}">
                <a16:creationId xmlns:a16="http://schemas.microsoft.com/office/drawing/2014/main" id="{7A87230D-828D-409A-321F-BCD6406BC361}"/>
              </a:ext>
            </a:extLst>
          </p:cNvPr>
          <p:cNvSpPr/>
          <p:nvPr/>
        </p:nvSpPr>
        <p:spPr>
          <a:xfrm>
            <a:off x="4980199" y="3200299"/>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a:extLst>
              <a:ext uri="{FF2B5EF4-FFF2-40B4-BE49-F238E27FC236}">
                <a16:creationId xmlns:a16="http://schemas.microsoft.com/office/drawing/2014/main" id="{7D435BFC-3672-92C1-B080-BC30BB12D54C}"/>
              </a:ext>
            </a:extLst>
          </p:cNvPr>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0A8381EA-A797-0F29-8E63-352D578FA9BD}"/>
              </a:ext>
            </a:extLst>
          </p:cNvPr>
          <p:cNvSpPr/>
          <p:nvPr/>
        </p:nvSpPr>
        <p:spPr>
          <a:xfrm>
            <a:off x="16540193" y="546646"/>
            <a:ext cx="1603617" cy="1253737"/>
          </a:xfrm>
          <a:custGeom>
            <a:avLst/>
            <a:gdLst/>
            <a:ahLst/>
            <a:cxnLst/>
            <a:rect l="l" t="t" r="r" b="b"/>
            <a:pathLst>
              <a:path w="1603617" h="1253737">
                <a:moveTo>
                  <a:pt x="0" y="0"/>
                </a:moveTo>
                <a:lnTo>
                  <a:pt x="1603616" y="0"/>
                </a:lnTo>
                <a:lnTo>
                  <a:pt x="1603616" y="1253737"/>
                </a:lnTo>
                <a:lnTo>
                  <a:pt x="0" y="1253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a:extLst>
              <a:ext uri="{FF2B5EF4-FFF2-40B4-BE49-F238E27FC236}">
                <a16:creationId xmlns:a16="http://schemas.microsoft.com/office/drawing/2014/main" id="{BB9B9F82-4C53-A2FC-6AF7-CEB6CF275CF1}"/>
              </a:ext>
            </a:extLst>
          </p:cNvPr>
          <p:cNvSpPr txBox="1"/>
          <p:nvPr/>
        </p:nvSpPr>
        <p:spPr>
          <a:xfrm>
            <a:off x="2197683" y="1593907"/>
            <a:ext cx="13575717" cy="1508683"/>
          </a:xfrm>
          <a:prstGeom prst="rect">
            <a:avLst/>
          </a:prstGeom>
        </p:spPr>
        <p:txBody>
          <a:bodyPr wrap="square" lIns="0" tIns="0" rIns="0" bIns="0" rtlCol="0" anchor="t">
            <a:spAutoFit/>
          </a:bodyPr>
          <a:lstStyle/>
          <a:p>
            <a:pPr lvl="0" algn="ctr">
              <a:lnSpc>
                <a:spcPts val="6003"/>
              </a:lnSpc>
            </a:pPr>
            <a:r>
              <a:rPr lang="en-US" sz="4800" dirty="0">
                <a:latin typeface="Arial Black" panose="020B0A04020102020204" pitchFamily="34" charset="0"/>
              </a:rPr>
              <a:t>Analysis 2 – Restaurants by Year, Quarter &amp; Month</a:t>
            </a:r>
          </a:p>
        </p:txBody>
      </p:sp>
      <p:sp>
        <p:nvSpPr>
          <p:cNvPr id="18" name="TextBox 18">
            <a:extLst>
              <a:ext uri="{FF2B5EF4-FFF2-40B4-BE49-F238E27FC236}">
                <a16:creationId xmlns:a16="http://schemas.microsoft.com/office/drawing/2014/main" id="{D36039BA-8B74-3783-D46E-E13971EEC7F8}"/>
              </a:ext>
            </a:extLst>
          </p:cNvPr>
          <p:cNvSpPr txBox="1"/>
          <p:nvPr/>
        </p:nvSpPr>
        <p:spPr>
          <a:xfrm>
            <a:off x="1837394" y="3972175"/>
            <a:ext cx="6475412" cy="352425"/>
          </a:xfrm>
          <a:prstGeom prst="rect">
            <a:avLst/>
          </a:prstGeom>
        </p:spPr>
        <p:txBody>
          <a:bodyPr lIns="0" tIns="0" rIns="0" bIns="0" rtlCol="0" anchor="t">
            <a:spAutoFit/>
          </a:bodyPr>
          <a:lstStyle/>
          <a:p>
            <a:pPr marL="0" lvl="0" indent="0" algn="ctr">
              <a:lnSpc>
                <a:spcPts val="2668"/>
              </a:lnSpc>
            </a:pPr>
            <a:r>
              <a:rPr lang="en-US" sz="2223" b="1" spc="33">
                <a:solidFill>
                  <a:srgbClr val="FFFFFF"/>
                </a:solidFill>
                <a:latin typeface="Poppins Medium"/>
                <a:ea typeface="Poppins Medium"/>
                <a:cs typeface="Poppins Medium"/>
                <a:sym typeface="Poppins Medium"/>
              </a:rPr>
              <a:t>What's Included</a:t>
            </a:r>
          </a:p>
        </p:txBody>
      </p:sp>
      <p:sp>
        <p:nvSpPr>
          <p:cNvPr id="30" name="TextBox 29">
            <a:extLst>
              <a:ext uri="{FF2B5EF4-FFF2-40B4-BE49-F238E27FC236}">
                <a16:creationId xmlns:a16="http://schemas.microsoft.com/office/drawing/2014/main" id="{3F127F1D-D36D-AC30-9DC9-35CA78D7072B}"/>
              </a:ext>
            </a:extLst>
          </p:cNvPr>
          <p:cNvSpPr txBox="1"/>
          <p:nvPr/>
        </p:nvSpPr>
        <p:spPr>
          <a:xfrm>
            <a:off x="9590534" y="3695705"/>
            <a:ext cx="5039866" cy="4524315"/>
          </a:xfrm>
          <a:prstGeom prst="rect">
            <a:avLst/>
          </a:prstGeom>
          <a:noFill/>
        </p:spPr>
        <p:txBody>
          <a:bodyPr wrap="square">
            <a:spAutoFit/>
          </a:bodyPr>
          <a:lstStyle/>
          <a:p>
            <a:pPr marL="342900" indent="-342900">
              <a:buFont typeface="Wingdings" panose="05000000000000000000" pitchFamily="2" charset="2"/>
              <a:buChar char="Ø"/>
            </a:pPr>
            <a:r>
              <a:rPr lang="en-US" sz="2400" dirty="0"/>
              <a:t>The gradual increase of restaurants over years, indicates growth in food industry.</a:t>
            </a:r>
          </a:p>
          <a:p>
            <a:pPr marL="342900" indent="-342900">
              <a:buFont typeface="Wingdings" panose="05000000000000000000" pitchFamily="2" charset="2"/>
              <a:buChar char="Ø"/>
            </a:pPr>
            <a:r>
              <a:rPr lang="en-US" sz="2400" dirty="0"/>
              <a:t>Quarterly analysis shows higher restaurant openings during mid &amp; end of the year.</a:t>
            </a:r>
          </a:p>
          <a:p>
            <a:pPr marL="342900" indent="-342900">
              <a:buFont typeface="Wingdings" panose="05000000000000000000" pitchFamily="2" charset="2"/>
              <a:buChar char="Ø"/>
            </a:pPr>
            <a:r>
              <a:rPr lang="en-US" sz="2400" dirty="0"/>
              <a:t>Monthly trends reveal fluctuations and peaks due to seasonal demand.</a:t>
            </a:r>
          </a:p>
          <a:p>
            <a:r>
              <a:rPr lang="en-US" sz="2400" dirty="0"/>
              <a:t>Overall, the data highlights a growing trend with periodic variations influenced by market conditions and demand</a:t>
            </a:r>
            <a:r>
              <a:rPr lang="en-US" sz="2000" dirty="0"/>
              <a:t>. </a:t>
            </a:r>
          </a:p>
        </p:txBody>
      </p:sp>
      <p:pic>
        <p:nvPicPr>
          <p:cNvPr id="2" name="Content Placeholder 6">
            <a:extLst>
              <a:ext uri="{FF2B5EF4-FFF2-40B4-BE49-F238E27FC236}">
                <a16:creationId xmlns:a16="http://schemas.microsoft.com/office/drawing/2014/main" id="{CEFAE82F-8346-60FC-DC32-6E203F82E4E7}"/>
              </a:ext>
            </a:extLst>
          </p:cNvPr>
          <p:cNvPicPr>
            <a:picLocks noChangeAspect="1"/>
          </p:cNvPicPr>
          <p:nvPr/>
        </p:nvPicPr>
        <p:blipFill>
          <a:blip r:embed="rId5"/>
          <a:stretch>
            <a:fillRect/>
          </a:stretch>
        </p:blipFill>
        <p:spPr>
          <a:xfrm>
            <a:off x="1875956" y="3924555"/>
            <a:ext cx="6475413" cy="3705245"/>
          </a:xfrm>
          <a:prstGeom prst="rect">
            <a:avLst/>
          </a:prstGeom>
        </p:spPr>
      </p:pic>
    </p:spTree>
    <p:extLst>
      <p:ext uri="{BB962C8B-B14F-4D97-AF65-F5344CB8AC3E}">
        <p14:creationId xmlns:p14="http://schemas.microsoft.com/office/powerpoint/2010/main" val="3452333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4DBC5-B1B1-C11B-99BB-70B3E778A6DD}"/>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56C59334-3689-31B0-2C55-02317A15A007}"/>
              </a:ext>
            </a:extLst>
          </p:cNvPr>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D6B304B6-E6A9-A816-EE8D-231B7F7B691E}"/>
              </a:ext>
            </a:extLst>
          </p:cNvPr>
          <p:cNvSpPr/>
          <p:nvPr/>
        </p:nvSpPr>
        <p:spPr>
          <a:xfrm rot="-10800000" flipH="1" flipV="1">
            <a:off x="-4062512" y="15605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a:extLst>
              <a:ext uri="{FF2B5EF4-FFF2-40B4-BE49-F238E27FC236}">
                <a16:creationId xmlns:a16="http://schemas.microsoft.com/office/drawing/2014/main" id="{48BC5249-53C8-B8AE-7F53-FFF5B804295F}"/>
              </a:ext>
            </a:extLst>
          </p:cNvPr>
          <p:cNvSpPr/>
          <p:nvPr/>
        </p:nvSpPr>
        <p:spPr>
          <a:xfrm>
            <a:off x="4980199" y="2628900"/>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a:extLst>
              <a:ext uri="{FF2B5EF4-FFF2-40B4-BE49-F238E27FC236}">
                <a16:creationId xmlns:a16="http://schemas.microsoft.com/office/drawing/2014/main" id="{EB2EEEF2-C11F-6890-FCC0-D023BCCBBD5A}"/>
              </a:ext>
            </a:extLst>
          </p:cNvPr>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6204F84C-0B02-8810-2B46-084FB6A53998}"/>
              </a:ext>
            </a:extLst>
          </p:cNvPr>
          <p:cNvSpPr/>
          <p:nvPr/>
        </p:nvSpPr>
        <p:spPr>
          <a:xfrm>
            <a:off x="16540193" y="546646"/>
            <a:ext cx="1603617" cy="1253737"/>
          </a:xfrm>
          <a:custGeom>
            <a:avLst/>
            <a:gdLst/>
            <a:ahLst/>
            <a:cxnLst/>
            <a:rect l="l" t="t" r="r" b="b"/>
            <a:pathLst>
              <a:path w="1603617" h="1253737">
                <a:moveTo>
                  <a:pt x="0" y="0"/>
                </a:moveTo>
                <a:lnTo>
                  <a:pt x="1603616" y="0"/>
                </a:lnTo>
                <a:lnTo>
                  <a:pt x="1603616" y="1253737"/>
                </a:lnTo>
                <a:lnTo>
                  <a:pt x="0" y="1253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a:extLst>
              <a:ext uri="{FF2B5EF4-FFF2-40B4-BE49-F238E27FC236}">
                <a16:creationId xmlns:a16="http://schemas.microsoft.com/office/drawing/2014/main" id="{11F2EEF5-A89C-808E-8ED9-2F1FC079DAEF}"/>
              </a:ext>
            </a:extLst>
          </p:cNvPr>
          <p:cNvSpPr txBox="1"/>
          <p:nvPr/>
        </p:nvSpPr>
        <p:spPr>
          <a:xfrm>
            <a:off x="2197683" y="1593907"/>
            <a:ext cx="13575717" cy="739241"/>
          </a:xfrm>
          <a:prstGeom prst="rect">
            <a:avLst/>
          </a:prstGeom>
        </p:spPr>
        <p:txBody>
          <a:bodyPr wrap="square" lIns="0" tIns="0" rIns="0" bIns="0" rtlCol="0" anchor="t">
            <a:spAutoFit/>
          </a:bodyPr>
          <a:lstStyle/>
          <a:p>
            <a:pPr lvl="0" algn="ctr">
              <a:lnSpc>
                <a:spcPts val="6003"/>
              </a:lnSpc>
            </a:pPr>
            <a:r>
              <a:rPr lang="en-US" sz="4800" dirty="0">
                <a:latin typeface="Arial Black" panose="020B0A04020102020204" pitchFamily="34" charset="0"/>
              </a:rPr>
              <a:t>Analysis 3 – Restaurants by Rating</a:t>
            </a:r>
          </a:p>
        </p:txBody>
      </p:sp>
      <p:sp>
        <p:nvSpPr>
          <p:cNvPr id="18" name="TextBox 18">
            <a:extLst>
              <a:ext uri="{FF2B5EF4-FFF2-40B4-BE49-F238E27FC236}">
                <a16:creationId xmlns:a16="http://schemas.microsoft.com/office/drawing/2014/main" id="{C5376D46-951F-3A38-6B96-25F66EA3CEBC}"/>
              </a:ext>
            </a:extLst>
          </p:cNvPr>
          <p:cNvSpPr txBox="1"/>
          <p:nvPr/>
        </p:nvSpPr>
        <p:spPr>
          <a:xfrm>
            <a:off x="1837394" y="3972175"/>
            <a:ext cx="6475412" cy="352425"/>
          </a:xfrm>
          <a:prstGeom prst="rect">
            <a:avLst/>
          </a:prstGeom>
        </p:spPr>
        <p:txBody>
          <a:bodyPr lIns="0" tIns="0" rIns="0" bIns="0" rtlCol="0" anchor="t">
            <a:spAutoFit/>
          </a:bodyPr>
          <a:lstStyle/>
          <a:p>
            <a:pPr marL="0" lvl="0" indent="0" algn="ctr">
              <a:lnSpc>
                <a:spcPts val="2668"/>
              </a:lnSpc>
            </a:pPr>
            <a:r>
              <a:rPr lang="en-US" sz="2223" b="1" spc="33">
                <a:solidFill>
                  <a:srgbClr val="FFFFFF"/>
                </a:solidFill>
                <a:latin typeface="Poppins Medium"/>
                <a:ea typeface="Poppins Medium"/>
                <a:cs typeface="Poppins Medium"/>
                <a:sym typeface="Poppins Medium"/>
              </a:rPr>
              <a:t>What's Included</a:t>
            </a:r>
          </a:p>
        </p:txBody>
      </p:sp>
      <p:sp>
        <p:nvSpPr>
          <p:cNvPr id="30" name="TextBox 29">
            <a:extLst>
              <a:ext uri="{FF2B5EF4-FFF2-40B4-BE49-F238E27FC236}">
                <a16:creationId xmlns:a16="http://schemas.microsoft.com/office/drawing/2014/main" id="{6FEB276B-654A-AD3B-7978-E326B78686AC}"/>
              </a:ext>
            </a:extLst>
          </p:cNvPr>
          <p:cNvSpPr txBox="1"/>
          <p:nvPr/>
        </p:nvSpPr>
        <p:spPr>
          <a:xfrm>
            <a:off x="9365548" y="3695705"/>
            <a:ext cx="6026852" cy="3847207"/>
          </a:xfrm>
          <a:prstGeom prst="rect">
            <a:avLst/>
          </a:prstGeom>
          <a:noFill/>
        </p:spPr>
        <p:txBody>
          <a:bodyPr wrap="square">
            <a:spAutoFit/>
          </a:bodyPr>
          <a:lstStyle/>
          <a:p>
            <a:pPr marL="342900" indent="-342900">
              <a:buFont typeface="Wingdings" panose="05000000000000000000" pitchFamily="2" charset="2"/>
              <a:buChar char="Ø"/>
            </a:pPr>
            <a:r>
              <a:rPr lang="en-US" sz="2800" dirty="0"/>
              <a:t>The majority of restaurants fall within 3.5 to 4.5 rating range </a:t>
            </a:r>
          </a:p>
          <a:p>
            <a:pPr marL="342900" indent="-342900">
              <a:buFont typeface="Wingdings" panose="05000000000000000000" pitchFamily="2" charset="2"/>
              <a:buChar char="Ø"/>
            </a:pPr>
            <a:r>
              <a:rPr lang="en-US" sz="2800" dirty="0"/>
              <a:t>Very few restaurants have extremely (&lt;2.5) low or perfect (5.0) ratings, showing a balanced distribution.</a:t>
            </a:r>
          </a:p>
          <a:p>
            <a:pPr marL="342900" indent="-342900">
              <a:buFont typeface="Wingdings" panose="05000000000000000000" pitchFamily="2" charset="2"/>
              <a:buChar char="Ø"/>
            </a:pPr>
            <a:r>
              <a:rPr lang="en-US" sz="2800" dirty="0"/>
              <a:t>Higher distribution helps identify top- performing restaurants and areas needing improvement</a:t>
            </a:r>
          </a:p>
          <a:p>
            <a:r>
              <a:rPr lang="en-US" sz="2000" dirty="0"/>
              <a:t>. </a:t>
            </a:r>
          </a:p>
        </p:txBody>
      </p:sp>
      <p:pic>
        <p:nvPicPr>
          <p:cNvPr id="9" name="Picture 8">
            <a:extLst>
              <a:ext uri="{FF2B5EF4-FFF2-40B4-BE49-F238E27FC236}">
                <a16:creationId xmlns:a16="http://schemas.microsoft.com/office/drawing/2014/main" id="{2B43AAAD-49FB-EDB2-D745-A7803CCE3F14}"/>
              </a:ext>
            </a:extLst>
          </p:cNvPr>
          <p:cNvPicPr>
            <a:picLocks noChangeAspect="1"/>
          </p:cNvPicPr>
          <p:nvPr/>
        </p:nvPicPr>
        <p:blipFill>
          <a:blip r:embed="rId5"/>
          <a:srcRect l="-1804" t="2237" r="-3043" b="2498"/>
          <a:stretch>
            <a:fillRect/>
          </a:stretch>
        </p:blipFill>
        <p:spPr>
          <a:xfrm>
            <a:off x="2174174" y="3695706"/>
            <a:ext cx="6026852" cy="3733794"/>
          </a:xfrm>
          <a:prstGeom prst="rect">
            <a:avLst/>
          </a:prstGeom>
        </p:spPr>
      </p:pic>
    </p:spTree>
    <p:extLst>
      <p:ext uri="{BB962C8B-B14F-4D97-AF65-F5344CB8AC3E}">
        <p14:creationId xmlns:p14="http://schemas.microsoft.com/office/powerpoint/2010/main" val="3552393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69F44-7B6C-DBCC-1F65-3F2C10F4D750}"/>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BF5FF5F5-404F-5DA5-DFE9-1429FE2F44A8}"/>
              </a:ext>
            </a:extLst>
          </p:cNvPr>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800CB357-02F1-3AC3-8DE8-4396E1E6ED8B}"/>
              </a:ext>
            </a:extLst>
          </p:cNvPr>
          <p:cNvSpPr/>
          <p:nvPr/>
        </p:nvSpPr>
        <p:spPr>
          <a:xfrm rot="-10800000" flipH="1" flipV="1">
            <a:off x="-4062512" y="15605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a:extLst>
              <a:ext uri="{FF2B5EF4-FFF2-40B4-BE49-F238E27FC236}">
                <a16:creationId xmlns:a16="http://schemas.microsoft.com/office/drawing/2014/main" id="{024B6D27-1510-845F-59E4-B06ACE1820DC}"/>
              </a:ext>
            </a:extLst>
          </p:cNvPr>
          <p:cNvSpPr/>
          <p:nvPr/>
        </p:nvSpPr>
        <p:spPr>
          <a:xfrm>
            <a:off x="4980199" y="2628900"/>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a:extLst>
              <a:ext uri="{FF2B5EF4-FFF2-40B4-BE49-F238E27FC236}">
                <a16:creationId xmlns:a16="http://schemas.microsoft.com/office/drawing/2014/main" id="{3A578073-698A-6DF7-2928-E39E93754C57}"/>
              </a:ext>
            </a:extLst>
          </p:cNvPr>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3FCFBF7A-6261-6BAE-3152-C04A61F0556C}"/>
              </a:ext>
            </a:extLst>
          </p:cNvPr>
          <p:cNvSpPr/>
          <p:nvPr/>
        </p:nvSpPr>
        <p:spPr>
          <a:xfrm>
            <a:off x="16540193" y="546646"/>
            <a:ext cx="1603617" cy="1253737"/>
          </a:xfrm>
          <a:custGeom>
            <a:avLst/>
            <a:gdLst/>
            <a:ahLst/>
            <a:cxnLst/>
            <a:rect l="l" t="t" r="r" b="b"/>
            <a:pathLst>
              <a:path w="1603617" h="1253737">
                <a:moveTo>
                  <a:pt x="0" y="0"/>
                </a:moveTo>
                <a:lnTo>
                  <a:pt x="1603616" y="0"/>
                </a:lnTo>
                <a:lnTo>
                  <a:pt x="1603616" y="1253737"/>
                </a:lnTo>
                <a:lnTo>
                  <a:pt x="0" y="1253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a:extLst>
              <a:ext uri="{FF2B5EF4-FFF2-40B4-BE49-F238E27FC236}">
                <a16:creationId xmlns:a16="http://schemas.microsoft.com/office/drawing/2014/main" id="{19E53C30-B063-884B-F067-F79F86D84110}"/>
              </a:ext>
            </a:extLst>
          </p:cNvPr>
          <p:cNvSpPr txBox="1"/>
          <p:nvPr/>
        </p:nvSpPr>
        <p:spPr>
          <a:xfrm>
            <a:off x="2197683" y="1593907"/>
            <a:ext cx="13575717" cy="739241"/>
          </a:xfrm>
          <a:prstGeom prst="rect">
            <a:avLst/>
          </a:prstGeom>
        </p:spPr>
        <p:txBody>
          <a:bodyPr wrap="square" lIns="0" tIns="0" rIns="0" bIns="0" rtlCol="0" anchor="t">
            <a:spAutoFit/>
          </a:bodyPr>
          <a:lstStyle/>
          <a:p>
            <a:pPr lvl="0" algn="ctr">
              <a:lnSpc>
                <a:spcPts val="6003"/>
              </a:lnSpc>
            </a:pPr>
            <a:r>
              <a:rPr lang="en-US" sz="4800" dirty="0">
                <a:latin typeface="Arial Black" panose="020B0A04020102020204" pitchFamily="34" charset="0"/>
              </a:rPr>
              <a:t>Analysis 4 – Restaurants by Price Range</a:t>
            </a:r>
          </a:p>
        </p:txBody>
      </p:sp>
      <p:sp>
        <p:nvSpPr>
          <p:cNvPr id="18" name="TextBox 18">
            <a:extLst>
              <a:ext uri="{FF2B5EF4-FFF2-40B4-BE49-F238E27FC236}">
                <a16:creationId xmlns:a16="http://schemas.microsoft.com/office/drawing/2014/main" id="{6A172FDD-9AC7-6C95-BCAA-0CEDC9220E07}"/>
              </a:ext>
            </a:extLst>
          </p:cNvPr>
          <p:cNvSpPr txBox="1"/>
          <p:nvPr/>
        </p:nvSpPr>
        <p:spPr>
          <a:xfrm>
            <a:off x="1837394" y="3972175"/>
            <a:ext cx="6475412" cy="352425"/>
          </a:xfrm>
          <a:prstGeom prst="rect">
            <a:avLst/>
          </a:prstGeom>
        </p:spPr>
        <p:txBody>
          <a:bodyPr lIns="0" tIns="0" rIns="0" bIns="0" rtlCol="0" anchor="t">
            <a:spAutoFit/>
          </a:bodyPr>
          <a:lstStyle/>
          <a:p>
            <a:pPr marL="0" lvl="0" indent="0" algn="ctr">
              <a:lnSpc>
                <a:spcPts val="2668"/>
              </a:lnSpc>
            </a:pPr>
            <a:r>
              <a:rPr lang="en-US" sz="2223" b="1" spc="33">
                <a:solidFill>
                  <a:srgbClr val="FFFFFF"/>
                </a:solidFill>
                <a:latin typeface="Poppins Medium"/>
                <a:ea typeface="Poppins Medium"/>
                <a:cs typeface="Poppins Medium"/>
                <a:sym typeface="Poppins Medium"/>
              </a:rPr>
              <a:t>What's Included</a:t>
            </a:r>
          </a:p>
        </p:txBody>
      </p:sp>
      <p:sp>
        <p:nvSpPr>
          <p:cNvPr id="30" name="TextBox 29">
            <a:extLst>
              <a:ext uri="{FF2B5EF4-FFF2-40B4-BE49-F238E27FC236}">
                <a16:creationId xmlns:a16="http://schemas.microsoft.com/office/drawing/2014/main" id="{1289B460-4B7E-46CF-31DA-CBFB9BDDC3B9}"/>
              </a:ext>
            </a:extLst>
          </p:cNvPr>
          <p:cNvSpPr txBox="1"/>
          <p:nvPr/>
        </p:nvSpPr>
        <p:spPr>
          <a:xfrm>
            <a:off x="9365548" y="3695705"/>
            <a:ext cx="6026852" cy="4708981"/>
          </a:xfrm>
          <a:prstGeom prst="rect">
            <a:avLst/>
          </a:prstGeom>
          <a:noFill/>
        </p:spPr>
        <p:txBody>
          <a:bodyPr wrap="square">
            <a:spAutoFit/>
          </a:bodyPr>
          <a:lstStyle/>
          <a:p>
            <a:pPr marL="457200" indent="-457200">
              <a:buFont typeface="Wingdings" panose="05000000000000000000" pitchFamily="2" charset="2"/>
              <a:buChar char="Ø"/>
            </a:pPr>
            <a:r>
              <a:rPr lang="en-US" sz="2800" dirty="0"/>
              <a:t>Most restaurants fall within the low to mid- price range, indicating affordability is a key factor in the market. </a:t>
            </a:r>
          </a:p>
          <a:p>
            <a:pPr marL="457200" indent="-457200">
              <a:buFont typeface="Wingdings" panose="05000000000000000000" pitchFamily="2" charset="2"/>
              <a:buChar char="Ø"/>
            </a:pPr>
            <a:r>
              <a:rPr lang="en-US" sz="2800" dirty="0"/>
              <a:t>A smaller proportion of restaurants belong to the high-price segment, targeting premium customers.</a:t>
            </a:r>
          </a:p>
          <a:p>
            <a:pPr marL="457200" indent="-457200">
              <a:buFont typeface="Wingdings" panose="05000000000000000000" pitchFamily="2" charset="2"/>
              <a:buChar char="Ø"/>
            </a:pPr>
            <a:r>
              <a:rPr lang="en-US" sz="2800" dirty="0"/>
              <a:t>Price range analysis helps businesses understand customer spending behavior and market positioning.</a:t>
            </a:r>
          </a:p>
          <a:p>
            <a:r>
              <a:rPr lang="en-US" sz="2000" dirty="0"/>
              <a:t>. </a:t>
            </a:r>
          </a:p>
        </p:txBody>
      </p:sp>
      <p:pic>
        <p:nvPicPr>
          <p:cNvPr id="7" name="Picture 6">
            <a:extLst>
              <a:ext uri="{FF2B5EF4-FFF2-40B4-BE49-F238E27FC236}">
                <a16:creationId xmlns:a16="http://schemas.microsoft.com/office/drawing/2014/main" id="{021B74BA-6EEA-746D-2CC2-3624B361CB86}"/>
              </a:ext>
            </a:extLst>
          </p:cNvPr>
          <p:cNvPicPr>
            <a:picLocks noChangeAspect="1"/>
          </p:cNvPicPr>
          <p:nvPr/>
        </p:nvPicPr>
        <p:blipFill>
          <a:blip r:embed="rId5"/>
          <a:stretch>
            <a:fillRect/>
          </a:stretch>
        </p:blipFill>
        <p:spPr>
          <a:xfrm>
            <a:off x="2156421" y="3667131"/>
            <a:ext cx="6535308" cy="3990967"/>
          </a:xfrm>
          <a:prstGeom prst="rect">
            <a:avLst/>
          </a:prstGeom>
        </p:spPr>
      </p:pic>
    </p:spTree>
    <p:extLst>
      <p:ext uri="{BB962C8B-B14F-4D97-AF65-F5344CB8AC3E}">
        <p14:creationId xmlns:p14="http://schemas.microsoft.com/office/powerpoint/2010/main" val="244279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312D0-9A62-5D20-CD40-9E98A8B93138}"/>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04EF4A9C-1BDD-60A7-AD11-24DF2797A773}"/>
              </a:ext>
            </a:extLst>
          </p:cNvPr>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CD6221CB-E952-D212-94AA-AF228EBEBE64}"/>
              </a:ext>
            </a:extLst>
          </p:cNvPr>
          <p:cNvSpPr/>
          <p:nvPr/>
        </p:nvSpPr>
        <p:spPr>
          <a:xfrm rot="-10800000" flipH="1" flipV="1">
            <a:off x="-4062512" y="15605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a:extLst>
              <a:ext uri="{FF2B5EF4-FFF2-40B4-BE49-F238E27FC236}">
                <a16:creationId xmlns:a16="http://schemas.microsoft.com/office/drawing/2014/main" id="{D82FE155-0039-795C-50E0-0D30A477A6BE}"/>
              </a:ext>
            </a:extLst>
          </p:cNvPr>
          <p:cNvSpPr/>
          <p:nvPr/>
        </p:nvSpPr>
        <p:spPr>
          <a:xfrm>
            <a:off x="5026871" y="3162300"/>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a:extLst>
              <a:ext uri="{FF2B5EF4-FFF2-40B4-BE49-F238E27FC236}">
                <a16:creationId xmlns:a16="http://schemas.microsoft.com/office/drawing/2014/main" id="{F6145B27-C348-B8BA-A9AB-6941DAC1FDF4}"/>
              </a:ext>
            </a:extLst>
          </p:cNvPr>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1506C157-71A0-7444-E472-7AE71444EDBE}"/>
              </a:ext>
            </a:extLst>
          </p:cNvPr>
          <p:cNvSpPr/>
          <p:nvPr/>
        </p:nvSpPr>
        <p:spPr>
          <a:xfrm>
            <a:off x="16540193" y="546646"/>
            <a:ext cx="1603617" cy="1253737"/>
          </a:xfrm>
          <a:custGeom>
            <a:avLst/>
            <a:gdLst/>
            <a:ahLst/>
            <a:cxnLst/>
            <a:rect l="l" t="t" r="r" b="b"/>
            <a:pathLst>
              <a:path w="1603617" h="1253737">
                <a:moveTo>
                  <a:pt x="0" y="0"/>
                </a:moveTo>
                <a:lnTo>
                  <a:pt x="1603616" y="0"/>
                </a:lnTo>
                <a:lnTo>
                  <a:pt x="1603616" y="1253737"/>
                </a:lnTo>
                <a:lnTo>
                  <a:pt x="0" y="1253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a:extLst>
              <a:ext uri="{FF2B5EF4-FFF2-40B4-BE49-F238E27FC236}">
                <a16:creationId xmlns:a16="http://schemas.microsoft.com/office/drawing/2014/main" id="{68347D40-15D0-D27F-EBC4-65E6D9E8AC64}"/>
              </a:ext>
            </a:extLst>
          </p:cNvPr>
          <p:cNvSpPr txBox="1"/>
          <p:nvPr/>
        </p:nvSpPr>
        <p:spPr>
          <a:xfrm>
            <a:off x="2425289" y="1443272"/>
            <a:ext cx="13880517" cy="1541355"/>
          </a:xfrm>
          <a:prstGeom prst="rect">
            <a:avLst/>
          </a:prstGeom>
        </p:spPr>
        <p:txBody>
          <a:bodyPr wrap="square" lIns="0" tIns="0" rIns="0" bIns="0" rtlCol="0" anchor="t">
            <a:spAutoFit/>
          </a:bodyPr>
          <a:lstStyle/>
          <a:p>
            <a:pPr lvl="0" algn="ctr">
              <a:lnSpc>
                <a:spcPts val="6003"/>
              </a:lnSpc>
            </a:pPr>
            <a:r>
              <a:rPr lang="en-US" sz="4800" dirty="0">
                <a:latin typeface="Arial Black" panose="020B0A04020102020204" pitchFamily="34" charset="0"/>
              </a:rPr>
              <a:t>Analysis 5 – %  Table Booking and Online Delivery</a:t>
            </a:r>
          </a:p>
        </p:txBody>
      </p:sp>
      <p:sp>
        <p:nvSpPr>
          <p:cNvPr id="18" name="TextBox 18">
            <a:extLst>
              <a:ext uri="{FF2B5EF4-FFF2-40B4-BE49-F238E27FC236}">
                <a16:creationId xmlns:a16="http://schemas.microsoft.com/office/drawing/2014/main" id="{7E39087A-B2BA-CF46-7DCE-1CB03385F06D}"/>
              </a:ext>
            </a:extLst>
          </p:cNvPr>
          <p:cNvSpPr txBox="1"/>
          <p:nvPr/>
        </p:nvSpPr>
        <p:spPr>
          <a:xfrm>
            <a:off x="1837394" y="3972175"/>
            <a:ext cx="6475412" cy="352425"/>
          </a:xfrm>
          <a:prstGeom prst="rect">
            <a:avLst/>
          </a:prstGeom>
        </p:spPr>
        <p:txBody>
          <a:bodyPr lIns="0" tIns="0" rIns="0" bIns="0" rtlCol="0" anchor="t">
            <a:spAutoFit/>
          </a:bodyPr>
          <a:lstStyle/>
          <a:p>
            <a:pPr marL="0" lvl="0" indent="0" algn="ctr">
              <a:lnSpc>
                <a:spcPts val="2668"/>
              </a:lnSpc>
            </a:pPr>
            <a:r>
              <a:rPr lang="en-US" sz="2223" b="1" spc="33">
                <a:solidFill>
                  <a:srgbClr val="FFFFFF"/>
                </a:solidFill>
                <a:latin typeface="Poppins Medium"/>
                <a:ea typeface="Poppins Medium"/>
                <a:cs typeface="Poppins Medium"/>
                <a:sym typeface="Poppins Medium"/>
              </a:rPr>
              <a:t>What's Included</a:t>
            </a:r>
          </a:p>
        </p:txBody>
      </p:sp>
      <p:sp>
        <p:nvSpPr>
          <p:cNvPr id="30" name="TextBox 29">
            <a:extLst>
              <a:ext uri="{FF2B5EF4-FFF2-40B4-BE49-F238E27FC236}">
                <a16:creationId xmlns:a16="http://schemas.microsoft.com/office/drawing/2014/main" id="{C4BAD9AE-08B5-7933-90DF-95A1F35DD22B}"/>
              </a:ext>
            </a:extLst>
          </p:cNvPr>
          <p:cNvSpPr txBox="1"/>
          <p:nvPr/>
        </p:nvSpPr>
        <p:spPr>
          <a:xfrm>
            <a:off x="9365548" y="3695705"/>
            <a:ext cx="6026852" cy="5262979"/>
          </a:xfrm>
          <a:prstGeom prst="rect">
            <a:avLst/>
          </a:prstGeom>
          <a:noFill/>
        </p:spPr>
        <p:txBody>
          <a:bodyPr wrap="square">
            <a:spAutoFit/>
          </a:bodyPr>
          <a:lstStyle/>
          <a:p>
            <a:pPr marL="457200" indent="-457200">
              <a:buFont typeface="Wingdings" panose="05000000000000000000" pitchFamily="2" charset="2"/>
              <a:buChar char="Ø"/>
            </a:pPr>
            <a:r>
              <a:rPr lang="en-US" sz="2800" dirty="0"/>
              <a:t>A higher percentage of restaurants offer online delivery, indicating strong demand for convenience and home dining.</a:t>
            </a:r>
          </a:p>
          <a:p>
            <a:pPr marL="457200" indent="-457200">
              <a:buFont typeface="Wingdings" panose="05000000000000000000" pitchFamily="2" charset="2"/>
              <a:buChar char="Ø"/>
            </a:pPr>
            <a:r>
              <a:rPr lang="en-US" sz="2800" dirty="0"/>
              <a:t>A comparatively lower percentage provide table booking, suggesting dine-in reservations are less prioritized.</a:t>
            </a:r>
          </a:p>
          <a:p>
            <a:pPr marL="457200" indent="-457200">
              <a:buFont typeface="Wingdings" panose="05000000000000000000" pitchFamily="2" charset="2"/>
              <a:buChar char="Ø"/>
            </a:pPr>
            <a:r>
              <a:rPr lang="en-US" sz="2800" dirty="0"/>
              <a:t>This trend highlights a shift towards digital ordering and delivery focused business models in the restaurant industry</a:t>
            </a:r>
            <a:endParaRPr lang="en-US" sz="2000" dirty="0"/>
          </a:p>
        </p:txBody>
      </p:sp>
      <p:pic>
        <p:nvPicPr>
          <p:cNvPr id="9" name="Picture 8">
            <a:extLst>
              <a:ext uri="{FF2B5EF4-FFF2-40B4-BE49-F238E27FC236}">
                <a16:creationId xmlns:a16="http://schemas.microsoft.com/office/drawing/2014/main" id="{AD6CD9A1-EE79-3F3E-3C66-2A2C30640C24}"/>
              </a:ext>
            </a:extLst>
          </p:cNvPr>
          <p:cNvPicPr>
            <a:picLocks noChangeAspect="1"/>
          </p:cNvPicPr>
          <p:nvPr/>
        </p:nvPicPr>
        <p:blipFill>
          <a:blip r:embed="rId5"/>
          <a:stretch>
            <a:fillRect/>
          </a:stretch>
        </p:blipFill>
        <p:spPr>
          <a:xfrm>
            <a:off x="1320869" y="4588232"/>
            <a:ext cx="3149462" cy="2923925"/>
          </a:xfrm>
          <a:prstGeom prst="rect">
            <a:avLst/>
          </a:prstGeom>
        </p:spPr>
      </p:pic>
      <p:pic>
        <p:nvPicPr>
          <p:cNvPr id="12" name="Picture 11">
            <a:extLst>
              <a:ext uri="{FF2B5EF4-FFF2-40B4-BE49-F238E27FC236}">
                <a16:creationId xmlns:a16="http://schemas.microsoft.com/office/drawing/2014/main" id="{08584F27-CE96-C1D3-CC99-97B60CBB2D39}"/>
              </a:ext>
            </a:extLst>
          </p:cNvPr>
          <p:cNvPicPr>
            <a:picLocks noChangeAspect="1"/>
          </p:cNvPicPr>
          <p:nvPr/>
        </p:nvPicPr>
        <p:blipFill>
          <a:blip r:embed="rId6"/>
          <a:stretch>
            <a:fillRect/>
          </a:stretch>
        </p:blipFill>
        <p:spPr>
          <a:xfrm>
            <a:off x="5227855" y="4563350"/>
            <a:ext cx="3276599" cy="2923925"/>
          </a:xfrm>
          <a:prstGeom prst="rect">
            <a:avLst/>
          </a:prstGeom>
        </p:spPr>
      </p:pic>
    </p:spTree>
    <p:extLst>
      <p:ext uri="{BB962C8B-B14F-4D97-AF65-F5344CB8AC3E}">
        <p14:creationId xmlns:p14="http://schemas.microsoft.com/office/powerpoint/2010/main" val="178847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1F058-5E54-121B-FB59-6649CEC78BB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DAF420C-7A56-F922-447C-F42D6F57E112}"/>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D9F4659C-444A-7236-BF19-794D9320216F}"/>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a:extLst>
              <a:ext uri="{FF2B5EF4-FFF2-40B4-BE49-F238E27FC236}">
                <a16:creationId xmlns:a16="http://schemas.microsoft.com/office/drawing/2014/main" id="{717CCE5E-6359-24A3-B38C-3E62C4769474}"/>
              </a:ext>
            </a:extLst>
          </p:cNvPr>
          <p:cNvSpPr txBox="1"/>
          <p:nvPr/>
        </p:nvSpPr>
        <p:spPr>
          <a:xfrm>
            <a:off x="1754770" y="2013478"/>
            <a:ext cx="14778459" cy="859210"/>
          </a:xfrm>
          <a:prstGeom prst="rect">
            <a:avLst/>
          </a:prstGeom>
        </p:spPr>
        <p:txBody>
          <a:bodyPr lIns="0" tIns="0" rIns="0" bIns="0" rtlCol="0" anchor="t">
            <a:spAutoFit/>
          </a:bodyPr>
          <a:lstStyle/>
          <a:p>
            <a:pPr lvl="0" algn="ctr">
              <a:lnSpc>
                <a:spcPts val="6745"/>
              </a:lnSpc>
            </a:pPr>
            <a:r>
              <a:rPr lang="en-US" sz="6000" dirty="0">
                <a:latin typeface="Arial Black" panose="020B0A04020102020204" pitchFamily="34" charset="0"/>
              </a:rPr>
              <a:t>Challenges &amp; Learnings</a:t>
            </a:r>
            <a:endParaRPr lang="en-US" sz="6000" b="1" dirty="0">
              <a:solidFill>
                <a:srgbClr val="100302"/>
              </a:solidFill>
              <a:latin typeface="Poppins Semi-Bold"/>
              <a:ea typeface="Poppins Semi-Bold"/>
              <a:cs typeface="Poppins Semi-Bold"/>
              <a:sym typeface="Poppins Semi-Bold"/>
            </a:endParaRPr>
          </a:p>
        </p:txBody>
      </p:sp>
      <p:sp>
        <p:nvSpPr>
          <p:cNvPr id="7" name="AutoShape 7">
            <a:extLst>
              <a:ext uri="{FF2B5EF4-FFF2-40B4-BE49-F238E27FC236}">
                <a16:creationId xmlns:a16="http://schemas.microsoft.com/office/drawing/2014/main" id="{CF9AE220-22F1-9188-A6D6-1147B67936C7}"/>
              </a:ext>
            </a:extLst>
          </p:cNvPr>
          <p:cNvSpPr/>
          <p:nvPr/>
        </p:nvSpPr>
        <p:spPr>
          <a:xfrm>
            <a:off x="4980199" y="3055431"/>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AA48836E-24C6-A8DE-56FD-B8DF72597E09}"/>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a:solidFill>
                  <a:srgbClr val="FFFFFF"/>
                </a:solidFill>
                <a:latin typeface="Poppins Medium"/>
                <a:ea typeface="Poppins Medium"/>
                <a:cs typeface="Poppins Medium"/>
                <a:sym typeface="Poppins Medium"/>
              </a:rPr>
              <a:t>Zomato Dataset — Source, Records &amp; Column Overview</a:t>
            </a:r>
          </a:p>
        </p:txBody>
      </p:sp>
      <p:sp>
        <p:nvSpPr>
          <p:cNvPr id="14" name="TextBox 14">
            <a:extLst>
              <a:ext uri="{FF2B5EF4-FFF2-40B4-BE49-F238E27FC236}">
                <a16:creationId xmlns:a16="http://schemas.microsoft.com/office/drawing/2014/main" id="{7A93F9C2-80D6-79D8-46C4-B9056835080C}"/>
              </a:ext>
            </a:extLst>
          </p:cNvPr>
          <p:cNvSpPr txBox="1"/>
          <p:nvPr/>
        </p:nvSpPr>
        <p:spPr>
          <a:xfrm>
            <a:off x="2547481" y="3238175"/>
            <a:ext cx="11277600" cy="6684587"/>
          </a:xfrm>
          <a:prstGeom prst="rect">
            <a:avLst/>
          </a:prstGeom>
        </p:spPr>
        <p:txBody>
          <a:bodyPr wrap="square" lIns="0" tIns="0" rIns="0" bIns="0" rtlCol="0" anchor="t">
            <a:spAutoFit/>
          </a:bodyPr>
          <a:lstStyle/>
          <a:p>
            <a:r>
              <a:rPr lang="en-US" sz="2800" b="1" dirty="0"/>
              <a:t>Challenges:</a:t>
            </a:r>
          </a:p>
          <a:p>
            <a:pPr marL="457200" indent="-457200">
              <a:buFont typeface="Wingdings" panose="05000000000000000000" pitchFamily="2" charset="2"/>
              <a:buChar char="Ø"/>
            </a:pPr>
            <a:r>
              <a:rPr lang="en-US" sz="2800" dirty="0"/>
              <a:t>Handling missing and inconsistent data (cost, cuisines, ratings) required careful cleaning </a:t>
            </a:r>
          </a:p>
          <a:p>
            <a:pPr marL="457200" indent="-457200">
              <a:buFont typeface="Wingdings" panose="05000000000000000000" pitchFamily="2" charset="2"/>
              <a:buChar char="Ø"/>
            </a:pPr>
            <a:r>
              <a:rPr lang="en-US" sz="2800" dirty="0"/>
              <a:t>Managing multi-value columns like cuisines and converting them into usable format </a:t>
            </a:r>
          </a:p>
          <a:p>
            <a:pPr marL="457200" indent="-457200">
              <a:buFont typeface="Wingdings" panose="05000000000000000000" pitchFamily="2" charset="2"/>
              <a:buChar char="Ø"/>
            </a:pPr>
            <a:r>
              <a:rPr lang="en-US" sz="2800" dirty="0"/>
              <a:t>Creating accurate date formats and calendar table for time-based analysis </a:t>
            </a:r>
          </a:p>
          <a:p>
            <a:pPr marL="457200" indent="-457200">
              <a:buFont typeface="Wingdings" panose="05000000000000000000" pitchFamily="2" charset="2"/>
              <a:buChar char="Ø"/>
            </a:pPr>
            <a:r>
              <a:rPr lang="en-US" sz="2800" dirty="0"/>
              <a:t>Writing efficient SQL queries and joins for large dataset analysis </a:t>
            </a:r>
          </a:p>
          <a:p>
            <a:pPr marL="457200" indent="-457200">
              <a:buFont typeface="Wingdings" panose="05000000000000000000" pitchFamily="2" charset="2"/>
              <a:buChar char="Ø"/>
            </a:pPr>
            <a:endParaRPr lang="en-US" sz="2800" dirty="0"/>
          </a:p>
          <a:p>
            <a:r>
              <a:rPr lang="en-US" sz="2800" b="1" dirty="0"/>
              <a:t>Learnings:</a:t>
            </a:r>
            <a:endParaRPr lang="en-US" sz="2800" dirty="0"/>
          </a:p>
          <a:p>
            <a:pPr marL="457200" indent="-457200">
              <a:buFont typeface="Wingdings" panose="05000000000000000000" pitchFamily="2" charset="2"/>
              <a:buChar char="Ø"/>
            </a:pPr>
            <a:r>
              <a:rPr lang="en-US" sz="2800" dirty="0"/>
              <a:t>Understood the importance of data cleaning as the foundation of analysis</a:t>
            </a:r>
          </a:p>
          <a:p>
            <a:pPr marL="457200" indent="-457200">
              <a:buFont typeface="Wingdings" panose="05000000000000000000" pitchFamily="2" charset="2"/>
              <a:buChar char="Ø"/>
            </a:pPr>
            <a:r>
              <a:rPr lang="en-US" sz="2800" dirty="0"/>
              <a:t>Gained hands-on experience in SQL, Excel, Power BI, and Tableau</a:t>
            </a:r>
          </a:p>
          <a:p>
            <a:pPr marL="457200" indent="-457200">
              <a:buFont typeface="Wingdings" panose="05000000000000000000" pitchFamily="2" charset="2"/>
              <a:buChar char="Ø"/>
            </a:pPr>
            <a:r>
              <a:rPr lang="en-US" sz="2800" dirty="0"/>
              <a:t>Learned how to convert raw data into meaningful business insights</a:t>
            </a:r>
          </a:p>
          <a:p>
            <a:pPr marL="457200" indent="-457200">
              <a:buFont typeface="Wingdings" panose="05000000000000000000" pitchFamily="2" charset="2"/>
              <a:buChar char="Ø"/>
            </a:pPr>
            <a:r>
              <a:rPr lang="en-US" sz="2800" dirty="0"/>
              <a:t>Improved skills in data visualization and storytelling for decision-making</a:t>
            </a:r>
            <a:endParaRPr lang="en-IN" sz="2800" dirty="0"/>
          </a:p>
          <a:p>
            <a:endParaRPr lang="en-US" sz="2800" dirty="0"/>
          </a:p>
          <a:p>
            <a:endParaRPr lang="en-US" sz="2800" b="1" dirty="0"/>
          </a:p>
          <a:p>
            <a:pPr marL="285750" indent="-285750">
              <a:buFont typeface="Wingdings" panose="05000000000000000000" pitchFamily="2" charset="2"/>
              <a:buChar char="Ø"/>
            </a:pPr>
            <a:endParaRPr lang="en-US" sz="1438" spc="21" dirty="0">
              <a:solidFill>
                <a:srgbClr val="100302"/>
              </a:solidFill>
              <a:latin typeface="Poppins"/>
              <a:ea typeface="Poppins"/>
              <a:cs typeface="Poppins"/>
              <a:sym typeface="Poppins"/>
            </a:endParaRPr>
          </a:p>
        </p:txBody>
      </p:sp>
      <p:sp>
        <p:nvSpPr>
          <p:cNvPr id="15" name="Freeform 15">
            <a:extLst>
              <a:ext uri="{FF2B5EF4-FFF2-40B4-BE49-F238E27FC236}">
                <a16:creationId xmlns:a16="http://schemas.microsoft.com/office/drawing/2014/main" id="{FD13C6D8-60F0-19F2-05C0-5B095C0295AE}"/>
              </a:ext>
            </a:extLst>
          </p:cNvPr>
          <p:cNvSpPr/>
          <p:nvPr/>
        </p:nvSpPr>
        <p:spPr>
          <a:xfrm>
            <a:off x="15248285" y="9410364"/>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F76F68EF-074E-C893-E8E4-24B087CA54B8}"/>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extLst>
      <p:ext uri="{BB962C8B-B14F-4D97-AF65-F5344CB8AC3E}">
        <p14:creationId xmlns:p14="http://schemas.microsoft.com/office/powerpoint/2010/main" val="3581231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A7FD0-88AC-7900-0DC1-15EB922746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CB4E11-F257-EF73-4493-6FBD6CC5382E}"/>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ABEDCC8F-DDBA-6DFF-ACF4-67572F25E5F6}"/>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a:extLst>
              <a:ext uri="{FF2B5EF4-FFF2-40B4-BE49-F238E27FC236}">
                <a16:creationId xmlns:a16="http://schemas.microsoft.com/office/drawing/2014/main" id="{34C290C5-3D65-ABFC-3988-04301FF496D1}"/>
              </a:ext>
            </a:extLst>
          </p:cNvPr>
          <p:cNvSpPr txBox="1"/>
          <p:nvPr/>
        </p:nvSpPr>
        <p:spPr>
          <a:xfrm>
            <a:off x="1772581" y="868917"/>
            <a:ext cx="14778459" cy="859210"/>
          </a:xfrm>
          <a:prstGeom prst="rect">
            <a:avLst/>
          </a:prstGeom>
        </p:spPr>
        <p:txBody>
          <a:bodyPr lIns="0" tIns="0" rIns="0" bIns="0" rtlCol="0" anchor="t">
            <a:spAutoFit/>
          </a:bodyPr>
          <a:lstStyle/>
          <a:p>
            <a:pPr lvl="0" algn="ctr">
              <a:lnSpc>
                <a:spcPts val="6745"/>
              </a:lnSpc>
            </a:pPr>
            <a:r>
              <a:rPr lang="en-US" sz="6000" dirty="0">
                <a:latin typeface="Arial Black" panose="020B0A04020102020204" pitchFamily="34" charset="0"/>
              </a:rPr>
              <a:t>EXCEL DASHBOARD</a:t>
            </a:r>
          </a:p>
        </p:txBody>
      </p:sp>
      <p:sp>
        <p:nvSpPr>
          <p:cNvPr id="7" name="AutoShape 7">
            <a:extLst>
              <a:ext uri="{FF2B5EF4-FFF2-40B4-BE49-F238E27FC236}">
                <a16:creationId xmlns:a16="http://schemas.microsoft.com/office/drawing/2014/main" id="{F14904D2-3945-FD04-BE4A-8AF3824A609C}"/>
              </a:ext>
            </a:extLst>
          </p:cNvPr>
          <p:cNvSpPr/>
          <p:nvPr/>
        </p:nvSpPr>
        <p:spPr>
          <a:xfrm>
            <a:off x="4980199" y="1943100"/>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16565303-882F-2DA0-9163-DF58BA62E4C5}"/>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a:solidFill>
                  <a:srgbClr val="FFFFFF"/>
                </a:solidFill>
                <a:latin typeface="Poppins Medium"/>
                <a:ea typeface="Poppins Medium"/>
                <a:cs typeface="Poppins Medium"/>
                <a:sym typeface="Poppins Medium"/>
              </a:rPr>
              <a:t>Zomato Dataset — Source, Records &amp; Column Overview</a:t>
            </a:r>
          </a:p>
        </p:txBody>
      </p:sp>
      <p:sp>
        <p:nvSpPr>
          <p:cNvPr id="15" name="Freeform 15">
            <a:extLst>
              <a:ext uri="{FF2B5EF4-FFF2-40B4-BE49-F238E27FC236}">
                <a16:creationId xmlns:a16="http://schemas.microsoft.com/office/drawing/2014/main" id="{7F51DF64-5387-D2EC-642B-4FDF0B64DEE0}"/>
              </a:ext>
            </a:extLst>
          </p:cNvPr>
          <p:cNvSpPr/>
          <p:nvPr/>
        </p:nvSpPr>
        <p:spPr>
          <a:xfrm>
            <a:off x="15248285" y="9410364"/>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E7A331D3-174B-A5E5-4FC6-856736E18EC1}"/>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6" name="Picture 5">
            <a:extLst>
              <a:ext uri="{FF2B5EF4-FFF2-40B4-BE49-F238E27FC236}">
                <a16:creationId xmlns:a16="http://schemas.microsoft.com/office/drawing/2014/main" id="{111EF548-2816-7D0B-6C44-D219D43EFF5C}"/>
              </a:ext>
            </a:extLst>
          </p:cNvPr>
          <p:cNvPicPr>
            <a:picLocks noChangeAspect="1"/>
          </p:cNvPicPr>
          <p:nvPr/>
        </p:nvPicPr>
        <p:blipFill>
          <a:blip r:embed="rId5"/>
          <a:stretch>
            <a:fillRect/>
          </a:stretch>
        </p:blipFill>
        <p:spPr>
          <a:xfrm>
            <a:off x="2286000" y="2400301"/>
            <a:ext cx="14460589" cy="6248397"/>
          </a:xfrm>
          <a:prstGeom prst="rect">
            <a:avLst/>
          </a:prstGeom>
        </p:spPr>
      </p:pic>
    </p:spTree>
    <p:extLst>
      <p:ext uri="{BB962C8B-B14F-4D97-AF65-F5344CB8AC3E}">
        <p14:creationId xmlns:p14="http://schemas.microsoft.com/office/powerpoint/2010/main" val="3638846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EC722-A5D7-C65D-F51F-C202E52430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F360CD0-0F06-DA3D-FBE9-27A13CD983A8}"/>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04DDD0CC-0FC9-775B-2988-B6E369539AFC}"/>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a:extLst>
              <a:ext uri="{FF2B5EF4-FFF2-40B4-BE49-F238E27FC236}">
                <a16:creationId xmlns:a16="http://schemas.microsoft.com/office/drawing/2014/main" id="{7AA263D4-752C-34D3-7447-5D4A64A1BA97}"/>
              </a:ext>
            </a:extLst>
          </p:cNvPr>
          <p:cNvSpPr txBox="1"/>
          <p:nvPr/>
        </p:nvSpPr>
        <p:spPr>
          <a:xfrm>
            <a:off x="1772581" y="868917"/>
            <a:ext cx="14778459" cy="859210"/>
          </a:xfrm>
          <a:prstGeom prst="rect">
            <a:avLst/>
          </a:prstGeom>
        </p:spPr>
        <p:txBody>
          <a:bodyPr lIns="0" tIns="0" rIns="0" bIns="0" rtlCol="0" anchor="t">
            <a:spAutoFit/>
          </a:bodyPr>
          <a:lstStyle/>
          <a:p>
            <a:pPr lvl="0" algn="ctr">
              <a:lnSpc>
                <a:spcPts val="6745"/>
              </a:lnSpc>
            </a:pPr>
            <a:r>
              <a:rPr lang="en-US" sz="6000" dirty="0">
                <a:latin typeface="Arial Black" panose="020B0A04020102020204" pitchFamily="34" charset="0"/>
              </a:rPr>
              <a:t>POWER BI DASHBOARD</a:t>
            </a:r>
          </a:p>
        </p:txBody>
      </p:sp>
      <p:sp>
        <p:nvSpPr>
          <p:cNvPr id="7" name="AutoShape 7">
            <a:extLst>
              <a:ext uri="{FF2B5EF4-FFF2-40B4-BE49-F238E27FC236}">
                <a16:creationId xmlns:a16="http://schemas.microsoft.com/office/drawing/2014/main" id="{3C50E62E-3806-5E73-9FC3-6D287259226B}"/>
              </a:ext>
            </a:extLst>
          </p:cNvPr>
          <p:cNvSpPr/>
          <p:nvPr/>
        </p:nvSpPr>
        <p:spPr>
          <a:xfrm>
            <a:off x="4980199" y="1943100"/>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7D31BC55-38A9-3AD9-1C17-E780BE283FB3}"/>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a:solidFill>
                  <a:srgbClr val="FFFFFF"/>
                </a:solidFill>
                <a:latin typeface="Poppins Medium"/>
                <a:ea typeface="Poppins Medium"/>
                <a:cs typeface="Poppins Medium"/>
                <a:sym typeface="Poppins Medium"/>
              </a:rPr>
              <a:t>Zomato Dataset — Source, Records &amp; Column Overview</a:t>
            </a:r>
          </a:p>
        </p:txBody>
      </p:sp>
      <p:sp>
        <p:nvSpPr>
          <p:cNvPr id="15" name="Freeform 15">
            <a:extLst>
              <a:ext uri="{FF2B5EF4-FFF2-40B4-BE49-F238E27FC236}">
                <a16:creationId xmlns:a16="http://schemas.microsoft.com/office/drawing/2014/main" id="{304BA22E-F7D2-0A4D-2BA8-B8FAA77CC6B6}"/>
              </a:ext>
            </a:extLst>
          </p:cNvPr>
          <p:cNvSpPr/>
          <p:nvPr/>
        </p:nvSpPr>
        <p:spPr>
          <a:xfrm>
            <a:off x="15248285" y="9410364"/>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ACE90924-DDF3-0145-4847-1B5F71D5C57C}"/>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8" name="Picture 7">
            <a:extLst>
              <a:ext uri="{FF2B5EF4-FFF2-40B4-BE49-F238E27FC236}">
                <a16:creationId xmlns:a16="http://schemas.microsoft.com/office/drawing/2014/main" id="{17CF4630-5E1C-936F-F843-1111F245C3B7}"/>
              </a:ext>
            </a:extLst>
          </p:cNvPr>
          <p:cNvPicPr>
            <a:picLocks noChangeAspect="1"/>
          </p:cNvPicPr>
          <p:nvPr/>
        </p:nvPicPr>
        <p:blipFill>
          <a:blip r:embed="rId5"/>
          <a:stretch>
            <a:fillRect/>
          </a:stretch>
        </p:blipFill>
        <p:spPr>
          <a:xfrm>
            <a:off x="2209800" y="2552704"/>
            <a:ext cx="13944600" cy="5562590"/>
          </a:xfrm>
          <a:prstGeom prst="rect">
            <a:avLst/>
          </a:prstGeom>
        </p:spPr>
      </p:pic>
    </p:spTree>
    <p:extLst>
      <p:ext uri="{BB962C8B-B14F-4D97-AF65-F5344CB8AC3E}">
        <p14:creationId xmlns:p14="http://schemas.microsoft.com/office/powerpoint/2010/main" val="143149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E31F6-86E0-885B-2C27-1DC48EDDD8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35C334-4FB0-5256-464D-84B079546BB0}"/>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ADAECAC3-F1E2-715D-7FD8-C8D50135A8E2}"/>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a:extLst>
              <a:ext uri="{FF2B5EF4-FFF2-40B4-BE49-F238E27FC236}">
                <a16:creationId xmlns:a16="http://schemas.microsoft.com/office/drawing/2014/main" id="{CC54D34F-E691-9C4B-FC14-26F371A0BE6E}"/>
              </a:ext>
            </a:extLst>
          </p:cNvPr>
          <p:cNvSpPr txBox="1"/>
          <p:nvPr/>
        </p:nvSpPr>
        <p:spPr>
          <a:xfrm>
            <a:off x="1772581" y="868917"/>
            <a:ext cx="14778459" cy="859210"/>
          </a:xfrm>
          <a:prstGeom prst="rect">
            <a:avLst/>
          </a:prstGeom>
        </p:spPr>
        <p:txBody>
          <a:bodyPr lIns="0" tIns="0" rIns="0" bIns="0" rtlCol="0" anchor="t">
            <a:spAutoFit/>
          </a:bodyPr>
          <a:lstStyle/>
          <a:p>
            <a:pPr lvl="0" algn="ctr">
              <a:lnSpc>
                <a:spcPts val="6745"/>
              </a:lnSpc>
            </a:pPr>
            <a:r>
              <a:rPr lang="en-US" sz="6000" dirty="0">
                <a:latin typeface="Arial Black" panose="020B0A04020102020204" pitchFamily="34" charset="0"/>
              </a:rPr>
              <a:t>TABLEAU DASHBOARD</a:t>
            </a:r>
          </a:p>
        </p:txBody>
      </p:sp>
      <p:sp>
        <p:nvSpPr>
          <p:cNvPr id="7" name="AutoShape 7">
            <a:extLst>
              <a:ext uri="{FF2B5EF4-FFF2-40B4-BE49-F238E27FC236}">
                <a16:creationId xmlns:a16="http://schemas.microsoft.com/office/drawing/2014/main" id="{9C6663AB-92AB-A25F-F7EB-84BEDE05A066}"/>
              </a:ext>
            </a:extLst>
          </p:cNvPr>
          <p:cNvSpPr/>
          <p:nvPr/>
        </p:nvSpPr>
        <p:spPr>
          <a:xfrm>
            <a:off x="4980199" y="1943100"/>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EF4FE3CB-6E40-FB38-A8C1-5AA83B186ECF}"/>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a:solidFill>
                  <a:srgbClr val="FFFFFF"/>
                </a:solidFill>
                <a:latin typeface="Poppins Medium"/>
                <a:ea typeface="Poppins Medium"/>
                <a:cs typeface="Poppins Medium"/>
                <a:sym typeface="Poppins Medium"/>
              </a:rPr>
              <a:t>Zomato Dataset — Source, Records &amp; Column Overview</a:t>
            </a:r>
          </a:p>
        </p:txBody>
      </p:sp>
      <p:sp>
        <p:nvSpPr>
          <p:cNvPr id="15" name="Freeform 15">
            <a:extLst>
              <a:ext uri="{FF2B5EF4-FFF2-40B4-BE49-F238E27FC236}">
                <a16:creationId xmlns:a16="http://schemas.microsoft.com/office/drawing/2014/main" id="{E447299B-5EB5-9D75-BADC-E1971ACD24E9}"/>
              </a:ext>
            </a:extLst>
          </p:cNvPr>
          <p:cNvSpPr/>
          <p:nvPr/>
        </p:nvSpPr>
        <p:spPr>
          <a:xfrm>
            <a:off x="15248285" y="9410364"/>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3C7B7850-C009-5DFE-236E-4A46D8A18978}"/>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6" name="Picture 5">
            <a:extLst>
              <a:ext uri="{FF2B5EF4-FFF2-40B4-BE49-F238E27FC236}">
                <a16:creationId xmlns:a16="http://schemas.microsoft.com/office/drawing/2014/main" id="{DAD08FF6-7FFF-DD31-1ED8-96A297492BBE}"/>
              </a:ext>
            </a:extLst>
          </p:cNvPr>
          <p:cNvPicPr>
            <a:picLocks noChangeAspect="1"/>
          </p:cNvPicPr>
          <p:nvPr/>
        </p:nvPicPr>
        <p:blipFill>
          <a:blip r:embed="rId5"/>
          <a:stretch>
            <a:fillRect/>
          </a:stretch>
        </p:blipFill>
        <p:spPr>
          <a:xfrm>
            <a:off x="2438400" y="2476500"/>
            <a:ext cx="13106399" cy="5867399"/>
          </a:xfrm>
          <a:prstGeom prst="rect">
            <a:avLst/>
          </a:prstGeom>
        </p:spPr>
      </p:pic>
    </p:spTree>
    <p:extLst>
      <p:ext uri="{BB962C8B-B14F-4D97-AF65-F5344CB8AC3E}">
        <p14:creationId xmlns:p14="http://schemas.microsoft.com/office/powerpoint/2010/main" val="658396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7BC73-9FEC-9FA0-63F8-44240D5823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F56683-164B-72D1-2663-3BD57AA158BF}"/>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A8C3B05A-83FB-F657-3D2E-12123A57DB77}"/>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a:extLst>
              <a:ext uri="{FF2B5EF4-FFF2-40B4-BE49-F238E27FC236}">
                <a16:creationId xmlns:a16="http://schemas.microsoft.com/office/drawing/2014/main" id="{FDD492D9-9638-DAC8-AEEB-A28D11CCCF22}"/>
              </a:ext>
            </a:extLst>
          </p:cNvPr>
          <p:cNvSpPr txBox="1"/>
          <p:nvPr/>
        </p:nvSpPr>
        <p:spPr>
          <a:xfrm>
            <a:off x="1772581" y="868917"/>
            <a:ext cx="14778459" cy="859210"/>
          </a:xfrm>
          <a:prstGeom prst="rect">
            <a:avLst/>
          </a:prstGeom>
        </p:spPr>
        <p:txBody>
          <a:bodyPr lIns="0" tIns="0" rIns="0" bIns="0" rtlCol="0" anchor="t">
            <a:spAutoFit/>
          </a:bodyPr>
          <a:lstStyle/>
          <a:p>
            <a:pPr lvl="0" algn="ctr">
              <a:lnSpc>
                <a:spcPts val="6745"/>
              </a:lnSpc>
            </a:pPr>
            <a:r>
              <a:rPr lang="en-US" sz="6000" dirty="0">
                <a:latin typeface="Arial Black" panose="020B0A04020102020204" pitchFamily="34" charset="0"/>
              </a:rPr>
              <a:t>MY SQL</a:t>
            </a:r>
          </a:p>
        </p:txBody>
      </p:sp>
      <p:sp>
        <p:nvSpPr>
          <p:cNvPr id="7" name="AutoShape 7">
            <a:extLst>
              <a:ext uri="{FF2B5EF4-FFF2-40B4-BE49-F238E27FC236}">
                <a16:creationId xmlns:a16="http://schemas.microsoft.com/office/drawing/2014/main" id="{54982201-CDE8-122F-A798-3A767DF932AC}"/>
              </a:ext>
            </a:extLst>
          </p:cNvPr>
          <p:cNvSpPr/>
          <p:nvPr/>
        </p:nvSpPr>
        <p:spPr>
          <a:xfrm>
            <a:off x="4980199" y="1943100"/>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8A880109-FDB2-536F-24A4-C4C63C13C514}"/>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dirty="0">
                <a:solidFill>
                  <a:srgbClr val="FFFFFF"/>
                </a:solidFill>
                <a:latin typeface="Poppins Medium"/>
                <a:ea typeface="Poppins Medium"/>
                <a:cs typeface="Poppins Medium"/>
                <a:sym typeface="Poppins Medium"/>
              </a:rPr>
              <a:t>Zomato Dataset — Source, Records &amp; Column Overview</a:t>
            </a:r>
          </a:p>
        </p:txBody>
      </p:sp>
      <p:sp>
        <p:nvSpPr>
          <p:cNvPr id="15" name="Freeform 15">
            <a:extLst>
              <a:ext uri="{FF2B5EF4-FFF2-40B4-BE49-F238E27FC236}">
                <a16:creationId xmlns:a16="http://schemas.microsoft.com/office/drawing/2014/main" id="{527DCB7D-A6CC-29E5-C82F-A6217CAD8E9F}"/>
              </a:ext>
            </a:extLst>
          </p:cNvPr>
          <p:cNvSpPr/>
          <p:nvPr/>
        </p:nvSpPr>
        <p:spPr>
          <a:xfrm>
            <a:off x="15657244" y="9478155"/>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5AA51ECE-1F39-2570-48D5-1E94CEF704EE}"/>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8" name="Picture 7">
            <a:extLst>
              <a:ext uri="{FF2B5EF4-FFF2-40B4-BE49-F238E27FC236}">
                <a16:creationId xmlns:a16="http://schemas.microsoft.com/office/drawing/2014/main" id="{2353555E-4ED2-807E-3E1B-09E4D5E035A3}"/>
              </a:ext>
            </a:extLst>
          </p:cNvPr>
          <p:cNvPicPr>
            <a:picLocks noChangeAspect="1"/>
          </p:cNvPicPr>
          <p:nvPr/>
        </p:nvPicPr>
        <p:blipFill>
          <a:blip r:embed="rId5"/>
          <a:stretch>
            <a:fillRect/>
          </a:stretch>
        </p:blipFill>
        <p:spPr>
          <a:xfrm>
            <a:off x="2667000" y="2384161"/>
            <a:ext cx="4847894" cy="7208724"/>
          </a:xfrm>
          <a:prstGeom prst="rect">
            <a:avLst/>
          </a:prstGeom>
        </p:spPr>
      </p:pic>
      <p:pic>
        <p:nvPicPr>
          <p:cNvPr id="10" name="Picture 9">
            <a:extLst>
              <a:ext uri="{FF2B5EF4-FFF2-40B4-BE49-F238E27FC236}">
                <a16:creationId xmlns:a16="http://schemas.microsoft.com/office/drawing/2014/main" id="{60CD402D-C038-8177-F20C-D0B2434C3693}"/>
              </a:ext>
            </a:extLst>
          </p:cNvPr>
          <p:cNvPicPr>
            <a:picLocks noChangeAspect="1"/>
          </p:cNvPicPr>
          <p:nvPr/>
        </p:nvPicPr>
        <p:blipFill>
          <a:blip r:embed="rId6"/>
          <a:stretch>
            <a:fillRect/>
          </a:stretch>
        </p:blipFill>
        <p:spPr>
          <a:xfrm>
            <a:off x="9278042" y="2476500"/>
            <a:ext cx="6114358" cy="7116380"/>
          </a:xfrm>
          <a:prstGeom prst="rect">
            <a:avLst/>
          </a:prstGeom>
        </p:spPr>
      </p:pic>
    </p:spTree>
    <p:extLst>
      <p:ext uri="{BB962C8B-B14F-4D97-AF65-F5344CB8AC3E}">
        <p14:creationId xmlns:p14="http://schemas.microsoft.com/office/powerpoint/2010/main" val="966293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91F92-E247-FA68-7DB0-6DAADE384CF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F6BA2CE-35C5-CCA7-9061-A64D0D7AE652}"/>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81996388-A27B-0B8A-EAAC-5074FE34F102}"/>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7" name="AutoShape 7">
            <a:extLst>
              <a:ext uri="{FF2B5EF4-FFF2-40B4-BE49-F238E27FC236}">
                <a16:creationId xmlns:a16="http://schemas.microsoft.com/office/drawing/2014/main" id="{344E0309-05AF-4CA2-0108-66B8493504E9}"/>
              </a:ext>
            </a:extLst>
          </p:cNvPr>
          <p:cNvSpPr/>
          <p:nvPr/>
        </p:nvSpPr>
        <p:spPr>
          <a:xfrm>
            <a:off x="4980199" y="1104900"/>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7BF7D333-D2F1-03BA-4FDC-522238C63E7C}"/>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dirty="0">
                <a:solidFill>
                  <a:srgbClr val="FFFFFF"/>
                </a:solidFill>
                <a:latin typeface="Poppins Medium"/>
                <a:ea typeface="Poppins Medium"/>
                <a:cs typeface="Poppins Medium"/>
                <a:sym typeface="Poppins Medium"/>
              </a:rPr>
              <a:t>Zomato Dataset — Source, Records &amp; Column Overview</a:t>
            </a:r>
          </a:p>
        </p:txBody>
      </p:sp>
      <p:sp>
        <p:nvSpPr>
          <p:cNvPr id="15" name="Freeform 15">
            <a:extLst>
              <a:ext uri="{FF2B5EF4-FFF2-40B4-BE49-F238E27FC236}">
                <a16:creationId xmlns:a16="http://schemas.microsoft.com/office/drawing/2014/main" id="{7AC445DC-D665-3F06-7AC0-E973B725F22E}"/>
              </a:ext>
            </a:extLst>
          </p:cNvPr>
          <p:cNvSpPr/>
          <p:nvPr/>
        </p:nvSpPr>
        <p:spPr>
          <a:xfrm>
            <a:off x="15657244" y="9478155"/>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95283912-9308-5E47-B345-67D6E1FDC536}"/>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11" name="Picture 10">
            <a:extLst>
              <a:ext uri="{FF2B5EF4-FFF2-40B4-BE49-F238E27FC236}">
                <a16:creationId xmlns:a16="http://schemas.microsoft.com/office/drawing/2014/main" id="{5F29642D-5CE7-2FF2-A01A-9F65EFC56422}"/>
              </a:ext>
            </a:extLst>
          </p:cNvPr>
          <p:cNvPicPr>
            <a:picLocks noChangeAspect="1"/>
          </p:cNvPicPr>
          <p:nvPr/>
        </p:nvPicPr>
        <p:blipFill>
          <a:blip r:embed="rId5"/>
          <a:stretch>
            <a:fillRect/>
          </a:stretch>
        </p:blipFill>
        <p:spPr>
          <a:xfrm>
            <a:off x="2335221" y="2019300"/>
            <a:ext cx="5437179" cy="7458855"/>
          </a:xfrm>
          <a:prstGeom prst="rect">
            <a:avLst/>
          </a:prstGeom>
        </p:spPr>
      </p:pic>
      <p:pic>
        <p:nvPicPr>
          <p:cNvPr id="14" name="Picture 13">
            <a:extLst>
              <a:ext uri="{FF2B5EF4-FFF2-40B4-BE49-F238E27FC236}">
                <a16:creationId xmlns:a16="http://schemas.microsoft.com/office/drawing/2014/main" id="{BD0C392D-B2DE-CEE1-396C-944F2B4564FF}"/>
              </a:ext>
            </a:extLst>
          </p:cNvPr>
          <p:cNvPicPr>
            <a:picLocks noChangeAspect="1"/>
          </p:cNvPicPr>
          <p:nvPr/>
        </p:nvPicPr>
        <p:blipFill>
          <a:blip r:embed="rId6"/>
          <a:stretch>
            <a:fillRect/>
          </a:stretch>
        </p:blipFill>
        <p:spPr>
          <a:xfrm>
            <a:off x="9196917" y="2019300"/>
            <a:ext cx="5662083" cy="7315195"/>
          </a:xfrm>
          <a:prstGeom prst="rect">
            <a:avLst/>
          </a:prstGeom>
        </p:spPr>
      </p:pic>
    </p:spTree>
    <p:extLst>
      <p:ext uri="{BB962C8B-B14F-4D97-AF65-F5344CB8AC3E}">
        <p14:creationId xmlns:p14="http://schemas.microsoft.com/office/powerpoint/2010/main" val="1151556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p:cNvSpPr txBox="1"/>
          <p:nvPr/>
        </p:nvSpPr>
        <p:spPr>
          <a:xfrm>
            <a:off x="1754770" y="2013478"/>
            <a:ext cx="14778459" cy="927754"/>
          </a:xfrm>
          <a:prstGeom prst="rect">
            <a:avLst/>
          </a:prstGeom>
        </p:spPr>
        <p:txBody>
          <a:bodyPr lIns="0" tIns="0" rIns="0" bIns="0" rtlCol="0" anchor="t">
            <a:spAutoFit/>
          </a:bodyPr>
          <a:lstStyle/>
          <a:p>
            <a:pPr lvl="0" algn="ctr">
              <a:lnSpc>
                <a:spcPts val="6745"/>
              </a:lnSpc>
            </a:pPr>
            <a:r>
              <a:rPr lang="en-IN" sz="8000" dirty="0">
                <a:latin typeface="Arial Black" panose="020B0A04020102020204" pitchFamily="34" charset="0"/>
              </a:rPr>
              <a:t>CONCLUSION</a:t>
            </a:r>
            <a:endParaRPr lang="en-US" sz="7494" b="1" dirty="0">
              <a:solidFill>
                <a:srgbClr val="100302"/>
              </a:solidFill>
              <a:latin typeface="Poppins Semi-Bold"/>
              <a:ea typeface="Poppins Semi-Bold"/>
              <a:cs typeface="Poppins Semi-Bold"/>
              <a:sym typeface="Poppins Semi-Bold"/>
            </a:endParaRPr>
          </a:p>
        </p:txBody>
      </p:sp>
      <p:sp>
        <p:nvSpPr>
          <p:cNvPr id="7" name="AutoShape 7"/>
          <p:cNvSpPr/>
          <p:nvPr/>
        </p:nvSpPr>
        <p:spPr>
          <a:xfrm>
            <a:off x="4980199" y="3055431"/>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a:solidFill>
                  <a:srgbClr val="FFFFFF"/>
                </a:solidFill>
                <a:latin typeface="Poppins Medium"/>
                <a:ea typeface="Poppins Medium"/>
                <a:cs typeface="Poppins Medium"/>
                <a:sym typeface="Poppins Medium"/>
              </a:rPr>
              <a:t>Zomato Dataset — Source, Records &amp; Column Overview</a:t>
            </a:r>
          </a:p>
        </p:txBody>
      </p:sp>
      <p:sp>
        <p:nvSpPr>
          <p:cNvPr id="14" name="TextBox 14"/>
          <p:cNvSpPr txBox="1"/>
          <p:nvPr/>
        </p:nvSpPr>
        <p:spPr>
          <a:xfrm>
            <a:off x="3429000" y="4000500"/>
            <a:ext cx="11963400" cy="3447098"/>
          </a:xfrm>
          <a:prstGeom prst="rect">
            <a:avLst/>
          </a:prstGeom>
        </p:spPr>
        <p:txBody>
          <a:bodyPr wrap="square" lIns="0" tIns="0" rIns="0" bIns="0" rtlCol="0" anchor="t">
            <a:spAutoFit/>
          </a:bodyPr>
          <a:lstStyle/>
          <a:p>
            <a:pPr marL="285750" indent="-285750">
              <a:buFont typeface="Wingdings" panose="05000000000000000000" pitchFamily="2" charset="2"/>
              <a:buChar char="Ø"/>
            </a:pPr>
            <a:r>
              <a:rPr lang="en-US" sz="2800" dirty="0"/>
              <a:t>The analysis provided valuable insights into restaurant distribution, pricing, and customer preferences. </a:t>
            </a:r>
          </a:p>
          <a:p>
            <a:pPr marL="285750" indent="-285750">
              <a:buFont typeface="Wingdings" panose="05000000000000000000" pitchFamily="2" charset="2"/>
              <a:buChar char="Ø"/>
            </a:pPr>
            <a:r>
              <a:rPr lang="en-US" sz="2800" dirty="0"/>
              <a:t>Most restaurants fall in the mid-price and mid-rating range, showing a competitive market. </a:t>
            </a:r>
          </a:p>
          <a:p>
            <a:pPr marL="285750" indent="-285750">
              <a:buFont typeface="Wingdings" panose="05000000000000000000" pitchFamily="2" charset="2"/>
              <a:buChar char="Ø"/>
            </a:pPr>
            <a:r>
              <a:rPr lang="en-US" sz="2800" dirty="0"/>
              <a:t>Online delivery plays a major role, reflecting changing customer behavior towards convenience. </a:t>
            </a:r>
          </a:p>
          <a:p>
            <a:pPr marL="285750" indent="-285750">
              <a:buFont typeface="Wingdings" panose="05000000000000000000" pitchFamily="2" charset="2"/>
              <a:buChar char="Ø"/>
            </a:pPr>
            <a:r>
              <a:rPr lang="en-US" sz="2800" dirty="0"/>
              <a:t>Data-driven insights can help businesses improve service quality, optimize pricing, and expand strategically</a:t>
            </a:r>
            <a:r>
              <a:rPr lang="en-US" sz="1600" dirty="0"/>
              <a:t>.</a:t>
            </a:r>
            <a:endParaRPr lang="en-US" sz="1438" spc="21" dirty="0">
              <a:solidFill>
                <a:srgbClr val="100302"/>
              </a:solidFill>
              <a:latin typeface="Poppins"/>
              <a:ea typeface="Poppins"/>
              <a:cs typeface="Poppins"/>
              <a:sym typeface="Poppins"/>
            </a:endParaRPr>
          </a:p>
        </p:txBody>
      </p:sp>
      <p:sp>
        <p:nvSpPr>
          <p:cNvPr id="15" name="Freeform 15"/>
          <p:cNvSpPr/>
          <p:nvPr/>
        </p:nvSpPr>
        <p:spPr>
          <a:xfrm>
            <a:off x="15248285" y="9410364"/>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a:off x="10132584" y="27801"/>
            <a:ext cx="10259199" cy="10259199"/>
          </a:xfrm>
          <a:custGeom>
            <a:avLst/>
            <a:gdLst/>
            <a:ahLst/>
            <a:cxnLst/>
            <a:rect l="l" t="t" r="r" b="b"/>
            <a:pathLst>
              <a:path w="10259199" h="10259199">
                <a:moveTo>
                  <a:pt x="10259199" y="0"/>
                </a:moveTo>
                <a:lnTo>
                  <a:pt x="0" y="0"/>
                </a:lnTo>
                <a:lnTo>
                  <a:pt x="0" y="10259199"/>
                </a:lnTo>
                <a:lnTo>
                  <a:pt x="10259199" y="10259199"/>
                </a:lnTo>
                <a:lnTo>
                  <a:pt x="10259199"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flipV="1">
            <a:off x="-2024523" y="0"/>
            <a:ext cx="4854522" cy="4854522"/>
          </a:xfrm>
          <a:custGeom>
            <a:avLst/>
            <a:gdLst/>
            <a:ahLst/>
            <a:cxnLst/>
            <a:rect l="l" t="t" r="r" b="b"/>
            <a:pathLst>
              <a:path w="4854522" h="4854522">
                <a:moveTo>
                  <a:pt x="0" y="4854522"/>
                </a:moveTo>
                <a:lnTo>
                  <a:pt x="4854522" y="4854522"/>
                </a:lnTo>
                <a:lnTo>
                  <a:pt x="4854522" y="0"/>
                </a:lnTo>
                <a:lnTo>
                  <a:pt x="0" y="0"/>
                </a:lnTo>
                <a:lnTo>
                  <a:pt x="0" y="48545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 name="Group 4"/>
          <p:cNvGrpSpPr/>
          <p:nvPr/>
        </p:nvGrpSpPr>
        <p:grpSpPr>
          <a:xfrm>
            <a:off x="10167626" y="1690137"/>
            <a:ext cx="8036918" cy="6906726"/>
            <a:chOff x="0" y="0"/>
            <a:chExt cx="812800" cy="698500"/>
          </a:xfrm>
        </p:grpSpPr>
        <p:sp>
          <p:nvSpPr>
            <p:cNvPr id="5" name="Freeform 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100302"/>
            </a:solidFill>
          </p:spPr>
          <p:txBody>
            <a:bodyPr/>
            <a:lstStyle/>
            <a:p>
              <a:endParaRPr lang="en-IN"/>
            </a:p>
          </p:txBody>
        </p:sp>
        <p:sp>
          <p:nvSpPr>
            <p:cNvPr id="6" name="TextBox 6"/>
            <p:cNvSpPr txBox="1"/>
            <p:nvPr/>
          </p:nvSpPr>
          <p:spPr>
            <a:xfrm>
              <a:off x="114300" y="-66675"/>
              <a:ext cx="584200" cy="765175"/>
            </a:xfrm>
            <a:prstGeom prst="rect">
              <a:avLst/>
            </a:prstGeom>
          </p:spPr>
          <p:txBody>
            <a:bodyPr lIns="50800" tIns="50800" rIns="50800" bIns="50800" rtlCol="0" anchor="ctr"/>
            <a:lstStyle/>
            <a:p>
              <a:pPr marL="0" lvl="0" indent="0" algn="ctr">
                <a:lnSpc>
                  <a:spcPts val="2800"/>
                </a:lnSpc>
              </a:pPr>
              <a:endParaRPr/>
            </a:p>
          </p:txBody>
        </p:sp>
      </p:grpSp>
      <p:sp>
        <p:nvSpPr>
          <p:cNvPr id="11" name="Freeform 11"/>
          <p:cNvSpPr/>
          <p:nvPr/>
        </p:nvSpPr>
        <p:spPr>
          <a:xfrm flipH="1" flipV="1">
            <a:off x="12436502" y="-2046699"/>
            <a:ext cx="5928391" cy="6605567"/>
          </a:xfrm>
          <a:custGeom>
            <a:avLst/>
            <a:gdLst/>
            <a:ahLst/>
            <a:cxnLst/>
            <a:rect l="l" t="t" r="r" b="b"/>
            <a:pathLst>
              <a:path w="5928391" h="6605567">
                <a:moveTo>
                  <a:pt x="5928390" y="6605566"/>
                </a:moveTo>
                <a:lnTo>
                  <a:pt x="0" y="6605566"/>
                </a:lnTo>
                <a:lnTo>
                  <a:pt x="0" y="0"/>
                </a:lnTo>
                <a:lnTo>
                  <a:pt x="5928390" y="0"/>
                </a:lnTo>
                <a:lnTo>
                  <a:pt x="5928390" y="6605566"/>
                </a:lnTo>
                <a:close/>
              </a:path>
            </a:pathLst>
          </a:custGeom>
          <a:blipFill>
            <a:blip>
              <a:extLst>
                <a:ext uri="{96DAC541-7B7A-43D3-8B79-37D633B846F1}">
                  <asvg:svgBlip xmlns:asvg="http://schemas.microsoft.com/office/drawing/2016/SVG/main" r:embed="rId2"/>
                </a:ext>
              </a:extLst>
            </a:blip>
            <a:stretch>
              <a:fillRect t="-55311" r="-73052"/>
            </a:stretch>
          </a:blipFill>
        </p:spPr>
        <p:txBody>
          <a:bodyPr/>
          <a:lstStyle/>
          <a:p>
            <a:endParaRPr lang="en-IN"/>
          </a:p>
        </p:txBody>
      </p:sp>
      <p:sp>
        <p:nvSpPr>
          <p:cNvPr id="12" name="Freeform 12"/>
          <p:cNvSpPr/>
          <p:nvPr/>
        </p:nvSpPr>
        <p:spPr>
          <a:xfrm>
            <a:off x="1557173" y="1066982"/>
            <a:ext cx="622416" cy="734611"/>
          </a:xfrm>
          <a:custGeom>
            <a:avLst/>
            <a:gdLst/>
            <a:ahLst/>
            <a:cxnLst/>
            <a:rect l="l" t="t" r="r" b="b"/>
            <a:pathLst>
              <a:path w="622416" h="734611">
                <a:moveTo>
                  <a:pt x="0" y="0"/>
                </a:moveTo>
                <a:lnTo>
                  <a:pt x="622416" y="0"/>
                </a:lnTo>
                <a:lnTo>
                  <a:pt x="622416" y="734611"/>
                </a:lnTo>
                <a:lnTo>
                  <a:pt x="0" y="7346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Freeform 13"/>
          <p:cNvSpPr/>
          <p:nvPr/>
        </p:nvSpPr>
        <p:spPr>
          <a:xfrm>
            <a:off x="9663660" y="1028700"/>
            <a:ext cx="1977168" cy="1545786"/>
          </a:xfrm>
          <a:custGeom>
            <a:avLst/>
            <a:gdLst/>
            <a:ahLst/>
            <a:cxnLst/>
            <a:rect l="l" t="t" r="r" b="b"/>
            <a:pathLst>
              <a:path w="1977168" h="1545786">
                <a:moveTo>
                  <a:pt x="0" y="0"/>
                </a:moveTo>
                <a:lnTo>
                  <a:pt x="1977168" y="0"/>
                </a:lnTo>
                <a:lnTo>
                  <a:pt x="1977168" y="1545786"/>
                </a:lnTo>
                <a:lnTo>
                  <a:pt x="0" y="15457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4" name="Freeform 14"/>
          <p:cNvSpPr/>
          <p:nvPr/>
        </p:nvSpPr>
        <p:spPr>
          <a:xfrm>
            <a:off x="556229" y="9698415"/>
            <a:ext cx="2001886" cy="243866"/>
          </a:xfrm>
          <a:custGeom>
            <a:avLst/>
            <a:gdLst/>
            <a:ahLst/>
            <a:cxnLst/>
            <a:rect l="l" t="t" r="r" b="b"/>
            <a:pathLst>
              <a:path w="2001886" h="243866">
                <a:moveTo>
                  <a:pt x="0" y="0"/>
                </a:moveTo>
                <a:lnTo>
                  <a:pt x="2001887" y="0"/>
                </a:lnTo>
                <a:lnTo>
                  <a:pt x="2001887" y="243866"/>
                </a:lnTo>
                <a:lnTo>
                  <a:pt x="0" y="24386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0" name="TextBox 20"/>
          <p:cNvSpPr txBox="1"/>
          <p:nvPr/>
        </p:nvSpPr>
        <p:spPr>
          <a:xfrm>
            <a:off x="1557729" y="3108963"/>
            <a:ext cx="7754548" cy="3190491"/>
          </a:xfrm>
          <a:prstGeom prst="rect">
            <a:avLst/>
          </a:prstGeom>
        </p:spPr>
        <p:txBody>
          <a:bodyPr lIns="0" tIns="0" rIns="0" bIns="0" rtlCol="0" anchor="t">
            <a:spAutoFit/>
          </a:bodyPr>
          <a:lstStyle/>
          <a:p>
            <a:pPr marL="0" lvl="0" indent="0" algn="l">
              <a:lnSpc>
                <a:spcPts val="11690"/>
              </a:lnSpc>
            </a:pPr>
            <a:r>
              <a:rPr lang="en-US" sz="12989" b="1">
                <a:solidFill>
                  <a:srgbClr val="FFFFFF"/>
                </a:solidFill>
                <a:latin typeface="Poppins Semi-Bold"/>
                <a:ea typeface="Poppins Semi-Bold"/>
                <a:cs typeface="Poppins Semi-Bold"/>
                <a:sym typeface="Poppins Semi-Bold"/>
              </a:rPr>
              <a:t>THANK YOU</a:t>
            </a:r>
          </a:p>
        </p:txBody>
      </p:sp>
      <p:grpSp>
        <p:nvGrpSpPr>
          <p:cNvPr id="15" name="object 43">
            <a:extLst>
              <a:ext uri="{FF2B5EF4-FFF2-40B4-BE49-F238E27FC236}">
                <a16:creationId xmlns:a16="http://schemas.microsoft.com/office/drawing/2014/main" id="{BEEFBB8B-0836-4D7F-4117-D173499849A5}"/>
              </a:ext>
            </a:extLst>
          </p:cNvPr>
          <p:cNvGrpSpPr/>
          <p:nvPr/>
        </p:nvGrpSpPr>
        <p:grpSpPr>
          <a:xfrm>
            <a:off x="9009411" y="2042934"/>
            <a:ext cx="8750935" cy="8216265"/>
            <a:chOff x="9454109" y="1690136"/>
            <a:chExt cx="8750935" cy="8216265"/>
          </a:xfrm>
        </p:grpSpPr>
        <p:sp>
          <p:nvSpPr>
            <p:cNvPr id="16" name="object 44">
              <a:extLst>
                <a:ext uri="{FF2B5EF4-FFF2-40B4-BE49-F238E27FC236}">
                  <a16:creationId xmlns:a16="http://schemas.microsoft.com/office/drawing/2014/main" id="{9833A971-FD61-B696-6B41-0DCD6DC76652}"/>
                </a:ext>
              </a:extLst>
            </p:cNvPr>
            <p:cNvSpPr/>
            <p:nvPr/>
          </p:nvSpPr>
          <p:spPr>
            <a:xfrm>
              <a:off x="10167625" y="1690136"/>
              <a:ext cx="8037195" cy="6906895"/>
            </a:xfrm>
            <a:custGeom>
              <a:avLst/>
              <a:gdLst/>
              <a:ahLst/>
              <a:cxnLst/>
              <a:rect l="l" t="t" r="r" b="b"/>
              <a:pathLst>
                <a:path w="8037194" h="6906895">
                  <a:moveTo>
                    <a:pt x="6027688" y="6906726"/>
                  </a:moveTo>
                  <a:lnTo>
                    <a:pt x="2009229" y="6906726"/>
                  </a:lnTo>
                  <a:lnTo>
                    <a:pt x="0" y="3453363"/>
                  </a:lnTo>
                  <a:lnTo>
                    <a:pt x="2009229" y="0"/>
                  </a:lnTo>
                  <a:lnTo>
                    <a:pt x="6027688" y="0"/>
                  </a:lnTo>
                  <a:lnTo>
                    <a:pt x="8036917" y="3453363"/>
                  </a:lnTo>
                  <a:lnTo>
                    <a:pt x="6027688" y="6906726"/>
                  </a:lnTo>
                  <a:close/>
                </a:path>
              </a:pathLst>
            </a:custGeom>
            <a:solidFill>
              <a:srgbClr val="0F0301"/>
            </a:solidFill>
          </p:spPr>
          <p:txBody>
            <a:bodyPr wrap="square" lIns="0" tIns="0" rIns="0" bIns="0" rtlCol="0"/>
            <a:lstStyle/>
            <a:p>
              <a:endParaRPr/>
            </a:p>
          </p:txBody>
        </p:sp>
        <p:pic>
          <p:nvPicPr>
            <p:cNvPr id="17" name="object 45">
              <a:extLst>
                <a:ext uri="{FF2B5EF4-FFF2-40B4-BE49-F238E27FC236}">
                  <a16:creationId xmlns:a16="http://schemas.microsoft.com/office/drawing/2014/main" id="{D5AEA313-E842-B397-1675-EBF9D6689872}"/>
                </a:ext>
              </a:extLst>
            </p:cNvPr>
            <p:cNvPicPr/>
            <p:nvPr/>
          </p:nvPicPr>
          <p:blipFill>
            <a:blip r:embed="rId6" cstate="print"/>
            <a:stretch>
              <a:fillRect/>
            </a:stretch>
          </p:blipFill>
          <p:spPr>
            <a:xfrm>
              <a:off x="10556000" y="2023896"/>
              <a:ext cx="7260166" cy="6239206"/>
            </a:xfrm>
            <a:prstGeom prst="rect">
              <a:avLst/>
            </a:prstGeom>
          </p:spPr>
        </p:pic>
        <p:sp>
          <p:nvSpPr>
            <p:cNvPr id="18" name="object 46">
              <a:extLst>
                <a:ext uri="{FF2B5EF4-FFF2-40B4-BE49-F238E27FC236}">
                  <a16:creationId xmlns:a16="http://schemas.microsoft.com/office/drawing/2014/main" id="{9A864AFB-2529-467A-A0C9-E03819E378B9}"/>
                </a:ext>
              </a:extLst>
            </p:cNvPr>
            <p:cNvSpPr/>
            <p:nvPr/>
          </p:nvSpPr>
          <p:spPr>
            <a:xfrm>
              <a:off x="10556008" y="2023884"/>
              <a:ext cx="7258050" cy="6238875"/>
            </a:xfrm>
            <a:custGeom>
              <a:avLst/>
              <a:gdLst/>
              <a:ahLst/>
              <a:cxnLst/>
              <a:rect l="l" t="t" r="r" b="b"/>
              <a:pathLst>
                <a:path w="7258050" h="6238875">
                  <a:moveTo>
                    <a:pt x="7258007" y="3123232"/>
                  </a:moveTo>
                  <a:lnTo>
                    <a:pt x="5445274" y="6238865"/>
                  </a:lnTo>
                </a:path>
                <a:path w="7258050" h="6238875">
                  <a:moveTo>
                    <a:pt x="1814850" y="6238880"/>
                  </a:moveTo>
                  <a:lnTo>
                    <a:pt x="0" y="3119600"/>
                  </a:lnTo>
                  <a:lnTo>
                    <a:pt x="1815026" y="11"/>
                  </a:lnTo>
                  <a:lnTo>
                    <a:pt x="5445110" y="0"/>
                  </a:lnTo>
                  <a:lnTo>
                    <a:pt x="7258022" y="3115988"/>
                  </a:lnTo>
                </a:path>
              </a:pathLst>
            </a:custGeom>
            <a:ln w="419099">
              <a:solidFill>
                <a:srgbClr val="BF2518"/>
              </a:solidFill>
            </a:ln>
          </p:spPr>
          <p:txBody>
            <a:bodyPr wrap="square" lIns="0" tIns="0" rIns="0" bIns="0" rtlCol="0"/>
            <a:lstStyle/>
            <a:p>
              <a:endParaRPr/>
            </a:p>
          </p:txBody>
        </p:sp>
        <p:pic>
          <p:nvPicPr>
            <p:cNvPr id="19" name="object 47">
              <a:extLst>
                <a:ext uri="{FF2B5EF4-FFF2-40B4-BE49-F238E27FC236}">
                  <a16:creationId xmlns:a16="http://schemas.microsoft.com/office/drawing/2014/main" id="{1F0E96A7-2AF3-5B8F-910F-CC2AB9F51086}"/>
                </a:ext>
              </a:extLst>
            </p:cNvPr>
            <p:cNvPicPr/>
            <p:nvPr/>
          </p:nvPicPr>
          <p:blipFill>
            <a:blip r:embed="rId7" cstate="print"/>
            <a:stretch>
              <a:fillRect/>
            </a:stretch>
          </p:blipFill>
          <p:spPr>
            <a:xfrm>
              <a:off x="9663659" y="5639163"/>
              <a:ext cx="4723491" cy="4059250"/>
            </a:xfrm>
            <a:prstGeom prst="rect">
              <a:avLst/>
            </a:prstGeom>
          </p:spPr>
        </p:pic>
        <p:sp>
          <p:nvSpPr>
            <p:cNvPr id="21" name="object 48">
              <a:extLst>
                <a:ext uri="{FF2B5EF4-FFF2-40B4-BE49-F238E27FC236}">
                  <a16:creationId xmlns:a16="http://schemas.microsoft.com/office/drawing/2014/main" id="{34055847-F999-CE8E-043F-F4228886A7C8}"/>
                </a:ext>
              </a:extLst>
            </p:cNvPr>
            <p:cNvSpPr/>
            <p:nvPr/>
          </p:nvSpPr>
          <p:spPr>
            <a:xfrm>
              <a:off x="9663659" y="5639164"/>
              <a:ext cx="4723765" cy="4057650"/>
            </a:xfrm>
            <a:custGeom>
              <a:avLst/>
              <a:gdLst/>
              <a:ahLst/>
              <a:cxnLst/>
              <a:rect l="l" t="t" r="r" b="b"/>
              <a:pathLst>
                <a:path w="4723765" h="4057650">
                  <a:moveTo>
                    <a:pt x="1179974" y="4057649"/>
                  </a:moveTo>
                  <a:lnTo>
                    <a:pt x="0" y="2029568"/>
                  </a:lnTo>
                  <a:lnTo>
                    <a:pt x="1180839" y="0"/>
                  </a:lnTo>
                  <a:lnTo>
                    <a:pt x="3542518" y="0"/>
                  </a:lnTo>
                  <a:lnTo>
                    <a:pt x="4723357" y="2029568"/>
                  </a:lnTo>
                  <a:lnTo>
                    <a:pt x="3543383" y="4057649"/>
                  </a:lnTo>
                </a:path>
              </a:pathLst>
            </a:custGeom>
            <a:ln w="419099">
              <a:solidFill>
                <a:srgbClr val="000000"/>
              </a:solidFill>
            </a:ln>
          </p:spPr>
          <p:txBody>
            <a:bodyPr wrap="square" lIns="0" tIns="0" rIns="0" bIns="0" rtlCol="0"/>
            <a:lstStyle/>
            <a:p>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911</Words>
  <Application>Microsoft Office PowerPoint</Application>
  <PresentationFormat>Custom</PresentationFormat>
  <Paragraphs>105</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Wingdings</vt:lpstr>
      <vt:lpstr>Calibri</vt:lpstr>
      <vt:lpstr>Poppins</vt:lpstr>
      <vt:lpstr>Poppins Semi-Bold</vt:lpstr>
      <vt:lpstr>Poppins Medium</vt:lpstr>
      <vt:lpstr>Arial Black</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Sathish Kumar Boopathy</cp:lastModifiedBy>
  <cp:revision>6</cp:revision>
  <dcterms:created xsi:type="dcterms:W3CDTF">2006-08-16T00:00:00Z</dcterms:created>
  <dcterms:modified xsi:type="dcterms:W3CDTF">2026-07-08T05:53:51Z</dcterms:modified>
  <dc:identifier>DAHOJt3C3ts</dc:identifier>
</cp:coreProperties>
</file>